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</p:sldMasterIdLst>
  <p:notesMasterIdLst>
    <p:notesMasterId r:id="rId2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9" r:id="rId18"/>
    <p:sldId id="270" r:id="rId19"/>
    <p:sldId id="264" r:id="rId20"/>
    <p:sldId id="265" r:id="rId21"/>
    <p:sldId id="271" r:id="rId22"/>
    <p:sldId id="266" r:id="rId23"/>
    <p:sldId id="267" r:id="rId24"/>
    <p:sldId id="268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KlC/wQVDpWi+AIniRjO3dTFFO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s-CL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16000" lvl="0" indent="-2160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s-CL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principal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1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1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2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4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3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PA FINAL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2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3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59120" y="1796760"/>
            <a:ext cx="70560" cy="32641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4"/>
          <p:cNvSpPr/>
          <p:nvPr/>
        </p:nvSpPr>
        <p:spPr>
          <a:xfrm>
            <a:off x="5945040" y="616680"/>
            <a:ext cx="5674320" cy="56667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4"/>
          <p:cNvSpPr/>
          <p:nvPr/>
        </p:nvSpPr>
        <p:spPr>
          <a:xfrm>
            <a:off x="6398640" y="2788560"/>
            <a:ext cx="294480" cy="294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14"/>
          <p:cNvCxnSpPr/>
          <p:nvPr/>
        </p:nvCxnSpPr>
        <p:spPr>
          <a:xfrm>
            <a:off x="6995880" y="4106160"/>
            <a:ext cx="4115160" cy="36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6915960" y="2601360"/>
            <a:ext cx="4377600" cy="130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pic>
        <p:nvPicPr>
          <p:cNvPr id="15" name="Google Shape;1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68680" y="1207080"/>
            <a:ext cx="3375720" cy="5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 txBox="1">
            <a:spLocks noGrp="1"/>
          </p:cNvSpPr>
          <p:nvPr>
            <p:ph type="body" idx="1"/>
          </p:nvPr>
        </p:nvSpPr>
        <p:spPr>
          <a:xfrm rot="-2190600">
            <a:off x="167400" y="2887200"/>
            <a:ext cx="10722240" cy="174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6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"/>
          <p:cNvSpPr txBox="1">
            <a:spLocks noGrp="1"/>
          </p:cNvSpPr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2" name="Google Shape;22;p16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6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body" idx="2"/>
          </p:nvPr>
        </p:nvSpPr>
        <p:spPr>
          <a:xfrm>
            <a:off x="640800" y="1137600"/>
            <a:ext cx="493056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9" name="Google Shape;29;p18"/>
          <p:cNvSpPr/>
          <p:nvPr/>
        </p:nvSpPr>
        <p:spPr>
          <a:xfrm>
            <a:off x="0" y="0"/>
            <a:ext cx="552600" cy="5526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18"/>
          <p:cNvGrpSpPr/>
          <p:nvPr/>
        </p:nvGrpSpPr>
        <p:grpSpPr>
          <a:xfrm>
            <a:off x="10559160" y="6273360"/>
            <a:ext cx="1404720" cy="320760"/>
            <a:chOff x="10559160" y="6273360"/>
            <a:chExt cx="1404720" cy="320760"/>
          </a:xfrm>
        </p:grpSpPr>
        <p:sp>
          <p:nvSpPr>
            <p:cNvPr id="31" name="Google Shape;31;p18"/>
            <p:cNvSpPr/>
            <p:nvPr/>
          </p:nvSpPr>
          <p:spPr>
            <a:xfrm>
              <a:off x="10559160" y="6311160"/>
              <a:ext cx="868320" cy="281520"/>
            </a:xfrm>
            <a:custGeom>
              <a:avLst/>
              <a:gdLst/>
              <a:ahLst/>
              <a:cxnLst/>
              <a:rect l="l" t="t" r="r" b="b"/>
              <a:pathLst>
                <a:path w="1618615" h="525145" extrusionOk="0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 extrusionOk="0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 extrusionOk="0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 extrusionOk="0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11487600" y="6334920"/>
              <a:ext cx="208080" cy="258480"/>
            </a:xfrm>
            <a:custGeom>
              <a:avLst/>
              <a:gdLst/>
              <a:ahLst/>
              <a:cxnLst/>
              <a:rect l="l" t="t" r="r" b="b"/>
              <a:pathLst>
                <a:path w="388619" h="482600" extrusionOk="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" name="Google Shape;33;p18"/>
            <p:cNvGrpSpPr/>
            <p:nvPr/>
          </p:nvGrpSpPr>
          <p:grpSpPr>
            <a:xfrm>
              <a:off x="11724840" y="6273360"/>
              <a:ext cx="239040" cy="320760"/>
              <a:chOff x="11724840" y="6273360"/>
              <a:chExt cx="239040" cy="320760"/>
            </a:xfrm>
          </p:grpSpPr>
          <p:sp>
            <p:nvSpPr>
              <p:cNvPr id="34" name="Google Shape;34;p18"/>
              <p:cNvSpPr/>
              <p:nvPr/>
            </p:nvSpPr>
            <p:spPr>
              <a:xfrm>
                <a:off x="11724840" y="6330960"/>
                <a:ext cx="201600" cy="263160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 extrusionOk="0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" name="Google Shape;35;p1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904120" y="6273360"/>
                <a:ext cx="59760" cy="597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6" name="Google Shape;3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2714760" y="4342320"/>
            <a:ext cx="119160" cy="423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0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3" name="Google Shape;43;p20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0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2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1" name="Google Shape;51;p22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2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/>
          <p:nvPr/>
        </p:nvSpPr>
        <p:spPr>
          <a:xfrm>
            <a:off x="7765200" y="2143800"/>
            <a:ext cx="3936600" cy="2845080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4"/>
          <p:cNvSpPr/>
          <p:nvPr/>
        </p:nvSpPr>
        <p:spPr>
          <a:xfrm>
            <a:off x="7765200" y="2143800"/>
            <a:ext cx="342360" cy="342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4"/>
          <p:cNvSpPr txBox="1">
            <a:spLocks noGrp="1"/>
          </p:cNvSpPr>
          <p:nvPr>
            <p:ph type="title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9" name="Google Shape;59;p24"/>
          <p:cNvSpPr/>
          <p:nvPr/>
        </p:nvSpPr>
        <p:spPr>
          <a:xfrm>
            <a:off x="0" y="2694960"/>
            <a:ext cx="1459440" cy="14673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4"/>
          <p:cNvSpPr/>
          <p:nvPr/>
        </p:nvSpPr>
        <p:spPr>
          <a:xfrm>
            <a:off x="0" y="2752560"/>
            <a:ext cx="145944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8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26"/>
          <p:cNvGrpSpPr/>
          <p:nvPr/>
        </p:nvGrpSpPr>
        <p:grpSpPr>
          <a:xfrm>
            <a:off x="2569680" y="5445720"/>
            <a:ext cx="7052400" cy="563040"/>
            <a:chOff x="2569680" y="5445720"/>
            <a:chExt cx="7052400" cy="563040"/>
          </a:xfrm>
        </p:grpSpPr>
        <p:pic>
          <p:nvPicPr>
            <p:cNvPr id="66" name="Google Shape;66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69840" y="5445720"/>
              <a:ext cx="5052240" cy="563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69680" y="5505480"/>
              <a:ext cx="1331280" cy="443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" name="Google Shape;68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7160" y="2291760"/>
            <a:ext cx="3997440" cy="12967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/>
          <p:nvPr/>
        </p:nvSpPr>
        <p:spPr>
          <a:xfrm>
            <a:off x="0" y="0"/>
            <a:ext cx="4459320" cy="68576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8"/>
          <p:cNvSpPr/>
          <p:nvPr/>
        </p:nvSpPr>
        <p:spPr>
          <a:xfrm>
            <a:off x="970920" y="900720"/>
            <a:ext cx="3747960" cy="505584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 flipH="1">
            <a:off x="10929240" y="3487680"/>
            <a:ext cx="2391840" cy="1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8"/>
          <p:cNvSpPr txBox="1">
            <a:spLocks noGrp="1"/>
          </p:cNvSpPr>
          <p:nvPr>
            <p:ph type="title"/>
          </p:nvPr>
        </p:nvSpPr>
        <p:spPr>
          <a:xfrm>
            <a:off x="1477440" y="221904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body" idx="1"/>
          </p:nvPr>
        </p:nvSpPr>
        <p:spPr>
          <a:xfrm>
            <a:off x="1477440" y="4008960"/>
            <a:ext cx="2805480" cy="7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grpSp>
        <p:nvGrpSpPr>
          <p:cNvPr id="78" name="Google Shape;78;p28"/>
          <p:cNvGrpSpPr/>
          <p:nvPr/>
        </p:nvGrpSpPr>
        <p:grpSpPr>
          <a:xfrm>
            <a:off x="10559160" y="6273360"/>
            <a:ext cx="1404720" cy="320760"/>
            <a:chOff x="10559160" y="6273360"/>
            <a:chExt cx="1404720" cy="320760"/>
          </a:xfrm>
        </p:grpSpPr>
        <p:sp>
          <p:nvSpPr>
            <p:cNvPr id="79" name="Google Shape;79;p28"/>
            <p:cNvSpPr/>
            <p:nvPr/>
          </p:nvSpPr>
          <p:spPr>
            <a:xfrm>
              <a:off x="10559160" y="6311160"/>
              <a:ext cx="868320" cy="281520"/>
            </a:xfrm>
            <a:custGeom>
              <a:avLst/>
              <a:gdLst/>
              <a:ahLst/>
              <a:cxnLst/>
              <a:rect l="l" t="t" r="r" b="b"/>
              <a:pathLst>
                <a:path w="1618615" h="525145" extrusionOk="0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 extrusionOk="0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 extrusionOk="0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 extrusionOk="0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8"/>
            <p:cNvSpPr/>
            <p:nvPr/>
          </p:nvSpPr>
          <p:spPr>
            <a:xfrm>
              <a:off x="11487600" y="6334920"/>
              <a:ext cx="208080" cy="258480"/>
            </a:xfrm>
            <a:custGeom>
              <a:avLst/>
              <a:gdLst/>
              <a:ahLst/>
              <a:cxnLst/>
              <a:rect l="l" t="t" r="r" b="b"/>
              <a:pathLst>
                <a:path w="388619" h="482600" extrusionOk="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" name="Google Shape;81;p28"/>
            <p:cNvGrpSpPr/>
            <p:nvPr/>
          </p:nvGrpSpPr>
          <p:grpSpPr>
            <a:xfrm>
              <a:off x="11724840" y="6273360"/>
              <a:ext cx="239040" cy="320760"/>
              <a:chOff x="11724840" y="6273360"/>
              <a:chExt cx="239040" cy="320760"/>
            </a:xfrm>
          </p:grpSpPr>
          <p:sp>
            <p:nvSpPr>
              <p:cNvPr id="82" name="Google Shape;82;p28"/>
              <p:cNvSpPr/>
              <p:nvPr/>
            </p:nvSpPr>
            <p:spPr>
              <a:xfrm>
                <a:off x="11724840" y="6330960"/>
                <a:ext cx="201600" cy="263160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 extrusionOk="0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3" name="Google Shape;83;p28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1904120" y="6273360"/>
                <a:ext cx="59760" cy="597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84" name="Google Shape;84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0440" y="1315080"/>
            <a:ext cx="118800" cy="42271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0"/>
          <p:cNvSpPr/>
          <p:nvPr/>
        </p:nvSpPr>
        <p:spPr>
          <a:xfrm>
            <a:off x="0" y="0"/>
            <a:ext cx="1154520" cy="68576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0"/>
          <p:cNvSpPr/>
          <p:nvPr/>
        </p:nvSpPr>
        <p:spPr>
          <a:xfrm>
            <a:off x="485640" y="405720"/>
            <a:ext cx="155160" cy="15516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0"/>
          <p:cNvSpPr txBox="1">
            <a:spLocks noGrp="1"/>
          </p:cNvSpPr>
          <p:nvPr>
            <p:ph type="body" idx="1"/>
          </p:nvPr>
        </p:nvSpPr>
        <p:spPr>
          <a:xfrm>
            <a:off x="6510960" y="40572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0" name="Google Shape;90;p30"/>
          <p:cNvSpPr txBox="1">
            <a:spLocks noGrp="1"/>
          </p:cNvSpPr>
          <p:nvPr>
            <p:ph type="body" idx="2"/>
          </p:nvPr>
        </p:nvSpPr>
        <p:spPr>
          <a:xfrm>
            <a:off x="6510960" y="976320"/>
            <a:ext cx="493056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1" name="Google Shape;91;p30"/>
          <p:cNvSpPr/>
          <p:nvPr/>
        </p:nvSpPr>
        <p:spPr>
          <a:xfrm>
            <a:off x="11552040" y="483480"/>
            <a:ext cx="271080" cy="27108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30"/>
          <p:cNvGrpSpPr/>
          <p:nvPr/>
        </p:nvGrpSpPr>
        <p:grpSpPr>
          <a:xfrm>
            <a:off x="10559160" y="6273360"/>
            <a:ext cx="1404720" cy="320760"/>
            <a:chOff x="10559160" y="6273360"/>
            <a:chExt cx="1404720" cy="320760"/>
          </a:xfrm>
        </p:grpSpPr>
        <p:sp>
          <p:nvSpPr>
            <p:cNvPr id="93" name="Google Shape;93;p30"/>
            <p:cNvSpPr/>
            <p:nvPr/>
          </p:nvSpPr>
          <p:spPr>
            <a:xfrm>
              <a:off x="10559160" y="6311160"/>
              <a:ext cx="868320" cy="281520"/>
            </a:xfrm>
            <a:custGeom>
              <a:avLst/>
              <a:gdLst/>
              <a:ahLst/>
              <a:cxnLst/>
              <a:rect l="l" t="t" r="r" b="b"/>
              <a:pathLst>
                <a:path w="1618615" h="525145" extrusionOk="0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 extrusionOk="0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 extrusionOk="0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 extrusionOk="0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0"/>
            <p:cNvSpPr/>
            <p:nvPr/>
          </p:nvSpPr>
          <p:spPr>
            <a:xfrm>
              <a:off x="11487600" y="6334920"/>
              <a:ext cx="208080" cy="258480"/>
            </a:xfrm>
            <a:custGeom>
              <a:avLst/>
              <a:gdLst/>
              <a:ahLst/>
              <a:cxnLst/>
              <a:rect l="l" t="t" r="r" b="b"/>
              <a:pathLst>
                <a:path w="388619" h="482600" extrusionOk="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" name="Google Shape;95;p30"/>
            <p:cNvGrpSpPr/>
            <p:nvPr/>
          </p:nvGrpSpPr>
          <p:grpSpPr>
            <a:xfrm>
              <a:off x="11724840" y="6273360"/>
              <a:ext cx="239040" cy="320760"/>
              <a:chOff x="11724840" y="6273360"/>
              <a:chExt cx="239040" cy="320760"/>
            </a:xfrm>
          </p:grpSpPr>
          <p:sp>
            <p:nvSpPr>
              <p:cNvPr id="96" name="Google Shape;96;p30"/>
              <p:cNvSpPr/>
              <p:nvPr/>
            </p:nvSpPr>
            <p:spPr>
              <a:xfrm>
                <a:off x="11724840" y="6330960"/>
                <a:ext cx="201600" cy="263160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 extrusionOk="0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7" name="Google Shape;97;p3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904120" y="6273360"/>
                <a:ext cx="59760" cy="597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98" name="Google Shape;98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680" y="2244960"/>
            <a:ext cx="118800" cy="42271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1bYmilhOMiZzPRnzzdvgEaLS9XBIYeQwK1JN75BjNKo/edit?usp=shar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GabTo0011/entrega_1-prog_para_ciencia_datos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title" idx="4294967295"/>
          </p:nvPr>
        </p:nvSpPr>
        <p:spPr>
          <a:xfrm>
            <a:off x="7013160" y="2601360"/>
            <a:ext cx="4280040" cy="113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s-CL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EA1 “Transformación de datos”.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6931800" y="4334760"/>
            <a:ext cx="4174920" cy="158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Grupo N° :002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Integrantes: 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Integrante 1: Gabriel Toledo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Integrante 2: Daniela Zarate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Evaluación Parcial N° 1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>
            <a:spLocks noGrp="1"/>
          </p:cNvSpPr>
          <p:nvPr>
            <p:ph type="title" idx="4294967295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br>
              <a:rPr lang="es-CL" sz="3200" b="0" i="0" u="none" strike="noStrike" cap="none"/>
            </a:b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body" idx="4294967295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CL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body" idx="4294967295"/>
          </p:nvPr>
        </p:nvSpPr>
        <p:spPr>
          <a:xfrm>
            <a:off x="647640" y="1725120"/>
            <a:ext cx="9896760" cy="3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32000" marR="0" lvl="0" indent="-324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s-CL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Nuestro objetivo es consolidar la limpieza y causalidad de datos.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s-CL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Unir estadísticas descriptivas claves tales como la </a:t>
            </a:r>
            <a:r>
              <a:rPr lang="es-CL" sz="2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demografía,causas,triage,territorio</a:t>
            </a:r>
            <a:r>
              <a:rPr lang="es-CL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costos y temporalidad.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s-CL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Incorporar un modelo logístico para explicar Hospital vs Centro de salud 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330400" y="149760"/>
            <a:ext cx="368136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Integrante 1-INICIO: </a:t>
            </a:r>
            <a:r>
              <a:rPr lang="es-CL" sz="1200" b="1" dirty="0">
                <a:solidFill>
                  <a:srgbClr val="FF0000"/>
                </a:solidFill>
              </a:rPr>
              <a:t>Daniela zarate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 idx="4294967295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Diagnóstico del problema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body" idx="4294967295"/>
          </p:nvPr>
        </p:nvSpPr>
        <p:spPr>
          <a:xfrm>
            <a:off x="3183480" y="610560"/>
            <a:ext cx="6356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CL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Diagnóstico del problema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077760" y="149760"/>
            <a:ext cx="293400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s-CL" sz="1200" b="1" dirty="0">
                <a:solidFill>
                  <a:srgbClr val="FF0000"/>
                </a:solidFill>
              </a:rPr>
              <a:t>Integrante 1-INICIO: Daniela zarate</a:t>
            </a:r>
            <a:endParaRPr lang="es-CL" sz="1200" dirty="0"/>
          </a:p>
        </p:txBody>
      </p:sp>
      <p:sp>
        <p:nvSpPr>
          <p:cNvPr id="130" name="Google Shape;130;p5"/>
          <p:cNvSpPr txBox="1"/>
          <p:nvPr/>
        </p:nvSpPr>
        <p:spPr>
          <a:xfrm>
            <a:off x="828000" y="2340000"/>
            <a:ext cx="4392000" cy="3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32000" marR="0" lvl="0" indent="-25944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33458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lang="es-CL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que se busca predecir es que la atención de urgencia ocurrirá en un hospital o en un centro de salud.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33458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lang="es-CL" sz="2800" dirty="0">
                <a:solidFill>
                  <a:schemeClr val="dk1"/>
                </a:solidFill>
              </a:rPr>
              <a:t>Y </a:t>
            </a:r>
            <a:r>
              <a:rPr lang="es-CL" sz="2800" dirty="0" err="1">
                <a:solidFill>
                  <a:schemeClr val="dk1"/>
                </a:solidFill>
              </a:rPr>
              <a:t>segun</a:t>
            </a:r>
            <a:r>
              <a:rPr lang="es-CL" sz="2800" dirty="0">
                <a:solidFill>
                  <a:schemeClr val="dk1"/>
                </a:solidFill>
              </a:rPr>
              <a:t> el territorio de atención según las regiones y las edades de los pacientes. 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260000" y="1260000"/>
            <a:ext cx="95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CL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¿Podemos predecir una atención de urgencia?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 title="da344be8-9066-4963-9a40-44257f270b7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9175" y="2053500"/>
            <a:ext cx="4221750" cy="23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 title="b1877e2a-7c2d-444d-baf2-a529f0b3cf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7175" y="4483575"/>
            <a:ext cx="4900956" cy="21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>
            <a:spLocks noGrp="1"/>
          </p:cNvSpPr>
          <p:nvPr>
            <p:ph type="body" idx="4294967295"/>
          </p:nvPr>
        </p:nvSpPr>
        <p:spPr>
          <a:xfrm>
            <a:off x="1501560" y="1937880"/>
            <a:ext cx="9001080" cy="19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s-CL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Pausa de 2 min. Responde 2 preguntas</a:t>
            </a:r>
            <a:endParaRPr sz="6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 idx="4294967295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Final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body" idx="4294967295"/>
          </p:nvPr>
        </p:nvSpPr>
        <p:spPr>
          <a:xfrm>
            <a:off x="610726" y="477206"/>
            <a:ext cx="4983828" cy="143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CL" sz="3200" b="1" dirty="0">
                <a:solidFill>
                  <a:schemeClr val="dk1"/>
                </a:solidFill>
              </a:rPr>
              <a:t>Análisis de los gráficos según lo estudiado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>
            <a:spLocks noGrp="1"/>
          </p:cNvSpPr>
          <p:nvPr>
            <p:ph type="body" idx="4294967295"/>
          </p:nvPr>
        </p:nvSpPr>
        <p:spPr>
          <a:xfrm>
            <a:off x="610726" y="5441760"/>
            <a:ext cx="9086623" cy="79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s-CL" sz="1400" dirty="0">
                <a:solidFill>
                  <a:schemeClr val="dk1"/>
                </a:solidFill>
                <a:highlight>
                  <a:schemeClr val="lt1"/>
                </a:highlight>
              </a:rPr>
              <a:t>Los hospitales atienden más casos que los centros de salud, por lo que absorben la mayor carga asistencial.</a:t>
            </a:r>
          </a:p>
          <a:p>
            <a:pPr marL="165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</a:pPr>
            <a:endParaRPr sz="1400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548560" y="149760"/>
            <a:ext cx="344664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Integrante 2-INICIO: Gabriel Toledo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563880" y="5441760"/>
            <a:ext cx="396864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8" title="0ab364d9-d622-45d6-89ac-9e2df5fb0fa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0969" y="1412983"/>
            <a:ext cx="5810305" cy="3610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349F07A-F68A-7B20-48A8-B1C5EB6A2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80" y="2066287"/>
            <a:ext cx="4067919" cy="2725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274A9D-7D1B-C2E3-7D44-B99CD0255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1" y="1378172"/>
            <a:ext cx="11555438" cy="374384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650ECA9-1988-49C3-B97E-1F7A34857DC0}"/>
              </a:ext>
            </a:extLst>
          </p:cNvPr>
          <p:cNvSpPr txBox="1"/>
          <p:nvPr/>
        </p:nvSpPr>
        <p:spPr>
          <a:xfrm>
            <a:off x="1061883" y="473704"/>
            <a:ext cx="8976852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s-CL" sz="1400" dirty="0">
                <a:solidFill>
                  <a:schemeClr val="dk1"/>
                </a:solidFill>
                <a:highlight>
                  <a:schemeClr val="lt1"/>
                </a:highlight>
              </a:rPr>
              <a:t>El costo de atención se distribuye de forma amplia, es decir, hay casos baratos y otros mucho más costosos.</a:t>
            </a:r>
          </a:p>
        </p:txBody>
      </p:sp>
    </p:spTree>
    <p:extLst>
      <p:ext uri="{BB962C8B-B14F-4D97-AF65-F5344CB8AC3E}">
        <p14:creationId xmlns:p14="http://schemas.microsoft.com/office/powerpoint/2010/main" val="988563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8" title="f92a947a-d798-41fa-8517-f92d9db51d7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8049" y="1651713"/>
            <a:ext cx="6430615" cy="3212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8" title="72ca74db-9f68-4424-bfc8-93bd98be6e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6277" y="1651713"/>
            <a:ext cx="4731027" cy="33146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FC884C8-B7D1-ED30-3904-CF258F4B9F1E}"/>
              </a:ext>
            </a:extLst>
          </p:cNvPr>
          <p:cNvSpPr txBox="1"/>
          <p:nvPr/>
        </p:nvSpPr>
        <p:spPr>
          <a:xfrm>
            <a:off x="757083" y="257395"/>
            <a:ext cx="10481187" cy="1395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s-CL" sz="1400" dirty="0">
                <a:solidFill>
                  <a:schemeClr val="dk1"/>
                </a:solidFill>
                <a:highlight>
                  <a:schemeClr val="lt1"/>
                </a:highlight>
              </a:rPr>
              <a:t>La demanda se concentra en </a:t>
            </a:r>
            <a:r>
              <a:rPr lang="es-CL" sz="1400" dirty="0" err="1">
                <a:solidFill>
                  <a:schemeClr val="dk1"/>
                </a:solidFill>
                <a:highlight>
                  <a:schemeClr val="lt1"/>
                </a:highlight>
              </a:rPr>
              <a:t>triage</a:t>
            </a:r>
            <a:r>
              <a:rPr lang="es-CL" sz="1400" dirty="0">
                <a:solidFill>
                  <a:schemeClr val="dk1"/>
                </a:solidFill>
                <a:highlight>
                  <a:schemeClr val="lt1"/>
                </a:highlight>
              </a:rPr>
              <a:t> medios, lo que indica que llegan muchas urgencias de complejidad intermedia.</a:t>
            </a:r>
          </a:p>
          <a:p>
            <a:pPr marL="457200" indent="-292100">
              <a:lnSpc>
                <a:spcPct val="115000"/>
              </a:lnSpc>
              <a:spcBef>
                <a:spcPts val="1300"/>
              </a:spcBef>
              <a:buClr>
                <a:schemeClr val="dk1"/>
              </a:buClr>
              <a:buSzPts val="1000"/>
              <a:buFont typeface="Arial"/>
              <a:buChar char="●"/>
            </a:pPr>
            <a:r>
              <a:rPr lang="es-ES" dirty="0">
                <a:solidFill>
                  <a:schemeClr val="dk1"/>
                </a:solidFill>
                <a:highlight>
                  <a:schemeClr val="lt1"/>
                </a:highlight>
              </a:rPr>
              <a:t>Al mirar el costo por </a:t>
            </a:r>
            <a:r>
              <a:rPr lang="es-ES" dirty="0" err="1">
                <a:solidFill>
                  <a:schemeClr val="dk1"/>
                </a:solidFill>
                <a:highlight>
                  <a:schemeClr val="lt1"/>
                </a:highlight>
              </a:rPr>
              <a:t>triage</a:t>
            </a:r>
            <a:r>
              <a:rPr lang="es-ES" dirty="0">
                <a:solidFill>
                  <a:schemeClr val="dk1"/>
                </a:solidFill>
                <a:highlight>
                  <a:schemeClr val="lt1"/>
                </a:highlight>
              </a:rPr>
              <a:t>, se observa que los niveles más complejos tienden a mostrar mayor variación y, en general, mayor costo.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endParaRPr lang="es-CL" sz="1400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5FD07EA-FAF7-BE8F-B0BA-9E83522C301D}"/>
              </a:ext>
            </a:extLst>
          </p:cNvPr>
          <p:cNvSpPr txBox="1"/>
          <p:nvPr/>
        </p:nvSpPr>
        <p:spPr>
          <a:xfrm>
            <a:off x="570270" y="5082040"/>
            <a:ext cx="10481187" cy="81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solidFill>
                  <a:schemeClr val="dk1"/>
                </a:solidFill>
                <a:highlight>
                  <a:schemeClr val="lt1"/>
                </a:highlight>
              </a:rPr>
              <a:t>Conclusión:</a:t>
            </a:r>
            <a:br>
              <a:rPr lang="es-ES" sz="1400" dirty="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s-ES" sz="1400" dirty="0">
                <a:solidFill>
                  <a:schemeClr val="dk1"/>
                </a:solidFill>
                <a:highlight>
                  <a:schemeClr val="lt1"/>
                </a:highlight>
              </a:rPr>
              <a:t>La red de urgencias atiende principalmente casos de complejidad intermedia, con mayor carga en hospitales y costos muy variables según el tipo de atención y la gravedad.</a:t>
            </a:r>
          </a:p>
        </p:txBody>
      </p:sp>
    </p:spTree>
    <p:extLst>
      <p:ext uri="{BB962C8B-B14F-4D97-AF65-F5344CB8AC3E}">
        <p14:creationId xmlns:p14="http://schemas.microsoft.com/office/powerpoint/2010/main" val="848884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>
            <a:spLocks noGrp="1"/>
          </p:cNvSpPr>
          <p:nvPr>
            <p:ph type="body" idx="4294967295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CL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de código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 txBox="1">
            <a:spLocks noGrp="1"/>
          </p:cNvSpPr>
          <p:nvPr>
            <p:ph type="body" idx="4294967295"/>
          </p:nvPr>
        </p:nvSpPr>
        <p:spPr>
          <a:xfrm>
            <a:off x="170932" y="1224571"/>
            <a:ext cx="6227841" cy="486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CL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MÉTRICAS — Regresión Lineal</a:t>
            </a:r>
            <a:endParaRPr sz="1700" b="0" i="0" u="none" strike="noStrike" cap="none" dirty="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Las métricas exactas de la regresión lineal son: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R2 (</a:t>
            </a:r>
            <a:r>
              <a:rPr lang="es-CL" sz="1700" dirty="0" err="1">
                <a:solidFill>
                  <a:schemeClr val="dk1"/>
                </a:solidFill>
                <a:highlight>
                  <a:schemeClr val="lt1"/>
                </a:highlight>
              </a:rPr>
              <a:t>coef</a:t>
            </a: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. determinación) : -0.0020 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MAE (Error Medio Absoluto) : 25,296.59 CLP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MSE (Error Cuadrático Medio) : 3,468,978,232.15 CLP²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RMSE (Raíz del Error Cuadrático Medio) : 58,898.03 CLP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La interpretación es esta: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R2 = -0.0020</a:t>
            </a:r>
            <a:b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El modelo prácticamente no explica el costo de atención. Incluso rinde peor que usar solo el promedio del costo como predicción.</a:t>
            </a:r>
          </a:p>
          <a:p>
            <a:pPr marL="457200" lvl="0" indent="-282575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MAE = 25,296.59 CLP</a:t>
            </a:r>
            <a:b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En promedio, el modelo se equivoca por unos 25 mil pesos por atención.</a:t>
            </a:r>
          </a:p>
          <a:p>
            <a:pPr marL="457200" lvl="0" indent="-282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MSE = 3,468,978,232.15 CLP²</a:t>
            </a:r>
            <a:b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Es un error cuadrático alto; penaliza más los errores grandes y confirma que hay mucha dispersión.</a:t>
            </a:r>
          </a:p>
          <a:p>
            <a:pPr marL="457200" lvl="0" indent="-282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lvl="0" indent="-2825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RMSE = 58,898.03 CLP</a:t>
            </a:r>
            <a:b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s-CL" sz="1700" dirty="0">
                <a:solidFill>
                  <a:schemeClr val="dk1"/>
                </a:solidFill>
                <a:highlight>
                  <a:schemeClr val="lt1"/>
                </a:highlight>
              </a:rPr>
              <a:t>El error típico de predicción está cerca de 59 mil pesos, lo que es elevado frente a la escala de costos observada.</a:t>
            </a:r>
            <a:endParaRPr sz="17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25853" y="5922533"/>
            <a:ext cx="28590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 01: REGRESIÓN LINEAL: Entrenar y evaluar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398773" y="75615"/>
            <a:ext cx="6433892" cy="662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Desempeno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modelo de gasto: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Regresion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Lineal (Real vs Predicho)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if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costoatencionclp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 in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df.columns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: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cols_candidatas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['causa', 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prioridadtriage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', 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regionglosa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', 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tipoestablecimiento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']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cols_modelo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[c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for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c in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cols_candidatas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if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c in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df.columns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]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if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cols_modelo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: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df_reg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df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[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cols_modelo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+ ['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costoatencionclp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']].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dropna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().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copy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X_reg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df_reg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[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cols_modelo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].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astype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string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').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fillna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('desconocido')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y_reg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df_reg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['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costoatencionclp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']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CL" sz="800" dirty="0">
              <a:solidFill>
                <a:schemeClr val="dk1"/>
              </a:solidFill>
              <a:highlight>
                <a:schemeClr val="lt1"/>
              </a:highlight>
              <a:latin typeface="+mj-lt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X_train_r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X_test_r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y_train_r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y_test_r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train_test_split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X_reg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y_reg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test_size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=0.25,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random_state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=42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CL" sz="800" dirty="0">
              <a:solidFill>
                <a:schemeClr val="dk1"/>
              </a:solidFill>
              <a:highlight>
                <a:schemeClr val="lt1"/>
              </a:highlight>
              <a:latin typeface="+mj-lt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preproceso_r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ColumnTransformer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transformers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=[('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cat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OneHotEncoder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handle_unknown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='ignore'),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cols_modelo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)]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modelo_r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Pipeline(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steps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=[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    ('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prep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preproceso_r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),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    ('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linreg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LinearRegression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())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])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CL" sz="800" dirty="0">
              <a:solidFill>
                <a:schemeClr val="dk1"/>
              </a:solidFill>
              <a:highlight>
                <a:schemeClr val="lt1"/>
              </a:highlight>
              <a:latin typeface="+mj-lt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modelo_r.fit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X_train_r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y_train_r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y_pred_r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modelo_r.predict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X_test_r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r2_reg = r2_score(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y_test_r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y_pred_r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CL" sz="800" dirty="0">
              <a:solidFill>
                <a:schemeClr val="dk1"/>
              </a:solidFill>
              <a:highlight>
                <a:schemeClr val="lt1"/>
              </a:highlight>
              <a:latin typeface="+mj-lt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plt.figure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figsize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=(7, 7))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plt.scatter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y_test_r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y_pred_r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alpha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=0.35, color='#3a86ff',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edgecolor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='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none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')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min_v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float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(min(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y_test_r.min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(),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y_pred_r.min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()))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max_v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=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float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max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y_test_r.max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(),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y_pred_r.max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()))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plt.plot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([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min_v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max_v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], [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min_v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max_v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], '--', color='gray',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linewidth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=1.5)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plt.title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f'Regresion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lineal: Real vs Predicho (R2={r2_reg:.3f})')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plt.xlabel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('Costo real (CLP)')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plt.ylabel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('Costo predicho (CLP)')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plt.tight_layout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plt.show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CL" sz="800" dirty="0">
              <a:solidFill>
                <a:schemeClr val="dk1"/>
              </a:solidFill>
              <a:highlight>
                <a:schemeClr val="lt1"/>
              </a:highlight>
              <a:latin typeface="+mj-lt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print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(f'R2 de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regresion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lineal: {r2_reg:.4f}')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else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: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       </a:t>
            </a:r>
            <a:r>
              <a:rPr lang="es-CL" sz="800" dirty="0" err="1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print</a:t>
            </a:r>
            <a:r>
              <a:rPr lang="es-CL" sz="800" dirty="0">
                <a:solidFill>
                  <a:schemeClr val="dk1"/>
                </a:solidFill>
                <a:highlight>
                  <a:schemeClr val="lt1"/>
                </a:highlight>
                <a:latin typeface="+mj-lt"/>
                <a:ea typeface="Courier New"/>
                <a:cs typeface="Courier New"/>
                <a:sym typeface="Courier New"/>
              </a:rPr>
              <a:t>('No hay suficientes variables explicativas para el modelo de gasto.')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8EC4C46-94A8-4F36-0808-8690EA96AF1E}"/>
              </a:ext>
            </a:extLst>
          </p:cNvPr>
          <p:cNvSpPr txBox="1"/>
          <p:nvPr/>
        </p:nvSpPr>
        <p:spPr>
          <a:xfrm>
            <a:off x="534228" y="60957"/>
            <a:ext cx="315319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Integrante 2-INICIO: Gabriel Toledo</a:t>
            </a:r>
            <a:endParaRPr lang="es-CL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>
            <a:spLocks noGrp="1"/>
          </p:cNvSpPr>
          <p:nvPr>
            <p:ph type="body" idx="4294967295"/>
          </p:nvPr>
        </p:nvSpPr>
        <p:spPr>
          <a:xfrm>
            <a:off x="654840" y="551160"/>
            <a:ext cx="3297728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CL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Análisis final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447760" y="149760"/>
            <a:ext cx="3564000" cy="292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Integrante 2-FIN: Gabriel Toledo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6240" y="1295288"/>
            <a:ext cx="11557891" cy="3385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</a:rPr>
              <a:t>El flujo completo de ciencia de datos se ejecuto de forma ordenada y reproducible, desde la carga inicial hasta la </a:t>
            </a:r>
            <a:r>
              <a:rPr lang="es-CL" dirty="0" err="1">
                <a:solidFill>
                  <a:schemeClr val="dk1"/>
                </a:solidFill>
              </a:rPr>
              <a:t>comparacion</a:t>
            </a:r>
            <a:r>
              <a:rPr lang="es-CL" dirty="0">
                <a:solidFill>
                  <a:schemeClr val="dk1"/>
                </a:solidFill>
              </a:rPr>
              <a:t> de modelos. El proceso </a:t>
            </a:r>
            <a:r>
              <a:rPr lang="es-CL" dirty="0" err="1">
                <a:solidFill>
                  <a:schemeClr val="dk1"/>
                </a:solidFill>
              </a:rPr>
              <a:t>permitio</a:t>
            </a:r>
            <a:r>
              <a:rPr lang="es-CL" dirty="0">
                <a:solidFill>
                  <a:schemeClr val="dk1"/>
                </a:solidFill>
              </a:rPr>
              <a:t> transformar datos crudos con problemas reales en una base </a:t>
            </a:r>
            <a:r>
              <a:rPr lang="es-CL" dirty="0" err="1">
                <a:solidFill>
                  <a:schemeClr val="dk1"/>
                </a:solidFill>
              </a:rPr>
              <a:t>analitica</a:t>
            </a:r>
            <a:r>
              <a:rPr lang="es-CL" dirty="0">
                <a:solidFill>
                  <a:schemeClr val="dk1"/>
                </a:solidFill>
              </a:rPr>
              <a:t> </a:t>
            </a:r>
            <a:r>
              <a:rPr lang="es-CL" dirty="0" err="1">
                <a:solidFill>
                  <a:schemeClr val="dk1"/>
                </a:solidFill>
              </a:rPr>
              <a:t>util</a:t>
            </a:r>
            <a:r>
              <a:rPr lang="es-CL" dirty="0">
                <a:solidFill>
                  <a:schemeClr val="dk1"/>
                </a:solidFill>
              </a:rPr>
              <a:t> para tomar decisiones de negocio.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</a:rPr>
              <a:t>Resumen del proceso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</a:rPr>
              <a:t>- Carga y diagnostico de datos crudos: se identificaron problemas de calidad como duplicados, valores nulos, </a:t>
            </a:r>
            <a:r>
              <a:rPr lang="es-CL" dirty="0" err="1">
                <a:solidFill>
                  <a:schemeClr val="dk1"/>
                </a:solidFill>
              </a:rPr>
              <a:t>categorias</a:t>
            </a:r>
            <a:r>
              <a:rPr lang="es-CL" dirty="0">
                <a:solidFill>
                  <a:schemeClr val="dk1"/>
                </a:solidFill>
              </a:rPr>
              <a:t> inconsistentes y variables con distribuciones </a:t>
            </a:r>
            <a:r>
              <a:rPr lang="es-CL" dirty="0" err="1">
                <a:solidFill>
                  <a:schemeClr val="dk1"/>
                </a:solidFill>
              </a:rPr>
              <a:t>atipicas</a:t>
            </a:r>
            <a:r>
              <a:rPr lang="es-CL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</a:rPr>
              <a:t>- Limpieza </a:t>
            </a:r>
            <a:r>
              <a:rPr lang="es-CL" dirty="0" err="1">
                <a:solidFill>
                  <a:schemeClr val="dk1"/>
                </a:solidFill>
              </a:rPr>
              <a:t>sistematica</a:t>
            </a:r>
            <a:r>
              <a:rPr lang="es-CL" dirty="0">
                <a:solidFill>
                  <a:schemeClr val="dk1"/>
                </a:solidFill>
              </a:rPr>
              <a:t>: se eliminaron duplicados, se corrigieron </a:t>
            </a:r>
            <a:r>
              <a:rPr lang="es-CL" dirty="0" err="1">
                <a:solidFill>
                  <a:schemeClr val="dk1"/>
                </a:solidFill>
              </a:rPr>
              <a:t>outliers</a:t>
            </a:r>
            <a:r>
              <a:rPr lang="es-CL" dirty="0">
                <a:solidFill>
                  <a:schemeClr val="dk1"/>
                </a:solidFill>
              </a:rPr>
              <a:t>, se imputaron valores faltantes con la mediana y se estandarizaron </a:t>
            </a:r>
            <a:r>
              <a:rPr lang="es-CL" dirty="0" err="1">
                <a:solidFill>
                  <a:schemeClr val="dk1"/>
                </a:solidFill>
              </a:rPr>
              <a:t>categorias</a:t>
            </a:r>
            <a:r>
              <a:rPr lang="es-CL" dirty="0">
                <a:solidFill>
                  <a:schemeClr val="dk1"/>
                </a:solidFill>
              </a:rPr>
              <a:t> relevantes.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</a:rPr>
              <a:t>- </a:t>
            </a:r>
            <a:r>
              <a:rPr lang="es-CL" dirty="0" err="1">
                <a:solidFill>
                  <a:schemeClr val="dk1"/>
                </a:solidFill>
              </a:rPr>
              <a:t>Ingenieria</a:t>
            </a:r>
            <a:r>
              <a:rPr lang="es-CL" dirty="0">
                <a:solidFill>
                  <a:schemeClr val="dk1"/>
                </a:solidFill>
              </a:rPr>
              <a:t> de </a:t>
            </a:r>
            <a:r>
              <a:rPr lang="es-CL" dirty="0" err="1">
                <a:solidFill>
                  <a:schemeClr val="dk1"/>
                </a:solidFill>
              </a:rPr>
              <a:t>caracteristicas</a:t>
            </a:r>
            <a:r>
              <a:rPr lang="es-CL" dirty="0">
                <a:solidFill>
                  <a:schemeClr val="dk1"/>
                </a:solidFill>
              </a:rPr>
              <a:t>: se crearon nuevas variables con sentido de negocio para mejorar la capacidad explicativa del </a:t>
            </a:r>
            <a:r>
              <a:rPr lang="es-CL" dirty="0" err="1">
                <a:solidFill>
                  <a:schemeClr val="dk1"/>
                </a:solidFill>
              </a:rPr>
              <a:t>analisis</a:t>
            </a:r>
            <a:r>
              <a:rPr lang="es-CL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</a:rPr>
              <a:t>- Pipeline reproducible: se implemento un flujo consistente con </a:t>
            </a:r>
            <a:r>
              <a:rPr lang="es-CL" dirty="0" err="1">
                <a:solidFill>
                  <a:schemeClr val="dk1"/>
                </a:solidFill>
              </a:rPr>
              <a:t>estandarizacion</a:t>
            </a:r>
            <a:r>
              <a:rPr lang="es-CL" dirty="0">
                <a:solidFill>
                  <a:schemeClr val="dk1"/>
                </a:solidFill>
              </a:rPr>
              <a:t>, </a:t>
            </a:r>
            <a:r>
              <a:rPr lang="es-CL" dirty="0" err="1">
                <a:solidFill>
                  <a:schemeClr val="dk1"/>
                </a:solidFill>
              </a:rPr>
              <a:t>codificacion</a:t>
            </a:r>
            <a:r>
              <a:rPr lang="es-CL" dirty="0">
                <a:solidFill>
                  <a:schemeClr val="dk1"/>
                </a:solidFill>
              </a:rPr>
              <a:t> </a:t>
            </a:r>
            <a:r>
              <a:rPr lang="es-CL" dirty="0" err="1">
                <a:solidFill>
                  <a:schemeClr val="dk1"/>
                </a:solidFill>
              </a:rPr>
              <a:t>automatica</a:t>
            </a:r>
            <a:r>
              <a:rPr lang="es-CL" dirty="0">
                <a:solidFill>
                  <a:schemeClr val="dk1"/>
                </a:solidFill>
              </a:rPr>
              <a:t> y </a:t>
            </a:r>
            <a:r>
              <a:rPr lang="es-CL" dirty="0" err="1">
                <a:solidFill>
                  <a:schemeClr val="dk1"/>
                </a:solidFill>
              </a:rPr>
              <a:t>separacion</a:t>
            </a:r>
            <a:r>
              <a:rPr lang="es-CL" dirty="0">
                <a:solidFill>
                  <a:schemeClr val="dk1"/>
                </a:solidFill>
              </a:rPr>
              <a:t> adecuada entre entrenamiento y prueba.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</a:rPr>
              <a:t>- </a:t>
            </a:r>
            <a:r>
              <a:rPr lang="es-CL" dirty="0" err="1">
                <a:solidFill>
                  <a:schemeClr val="dk1"/>
                </a:solidFill>
              </a:rPr>
              <a:t>Analisis</a:t>
            </a:r>
            <a:r>
              <a:rPr lang="es-CL" dirty="0">
                <a:solidFill>
                  <a:schemeClr val="dk1"/>
                </a:solidFill>
              </a:rPr>
              <a:t> </a:t>
            </a:r>
            <a:r>
              <a:rPr lang="es-CL" dirty="0" err="1">
                <a:solidFill>
                  <a:schemeClr val="dk1"/>
                </a:solidFill>
              </a:rPr>
              <a:t>bias</a:t>
            </a:r>
            <a:r>
              <a:rPr lang="es-CL" dirty="0">
                <a:solidFill>
                  <a:schemeClr val="dk1"/>
                </a:solidFill>
              </a:rPr>
              <a:t>-varianza: se </a:t>
            </a:r>
            <a:r>
              <a:rPr lang="es-CL" dirty="0" err="1">
                <a:solidFill>
                  <a:schemeClr val="dk1"/>
                </a:solidFill>
              </a:rPr>
              <a:t>evaluo</a:t>
            </a:r>
            <a:r>
              <a:rPr lang="es-CL" dirty="0">
                <a:solidFill>
                  <a:schemeClr val="dk1"/>
                </a:solidFill>
              </a:rPr>
              <a:t> la complejidad del modelo para evitar tanto </a:t>
            </a:r>
            <a:r>
              <a:rPr lang="es-CL" dirty="0" err="1">
                <a:solidFill>
                  <a:schemeClr val="dk1"/>
                </a:solidFill>
              </a:rPr>
              <a:t>subajuste</a:t>
            </a:r>
            <a:r>
              <a:rPr lang="es-CL" dirty="0">
                <a:solidFill>
                  <a:schemeClr val="dk1"/>
                </a:solidFill>
              </a:rPr>
              <a:t> como sobreajuste.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</a:rPr>
              <a:t>- </a:t>
            </a:r>
            <a:r>
              <a:rPr lang="es-CL" dirty="0" err="1">
                <a:solidFill>
                  <a:schemeClr val="dk1"/>
                </a:solidFill>
              </a:rPr>
              <a:t>Comparacion</a:t>
            </a:r>
            <a:r>
              <a:rPr lang="es-CL" dirty="0">
                <a:solidFill>
                  <a:schemeClr val="dk1"/>
                </a:solidFill>
              </a:rPr>
              <a:t> de modelos: se entrenaron, evaluaron y contrastaron 4 modelos, priorizando desempeño y estabilidad.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79222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1800" b="0" i="0" u="none" strike="noStrike" cap="none" dirty="0"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F32AC9B-99F9-5259-8592-BD7100B96808}"/>
              </a:ext>
            </a:extLst>
          </p:cNvPr>
          <p:cNvSpPr txBox="1"/>
          <p:nvPr/>
        </p:nvSpPr>
        <p:spPr>
          <a:xfrm>
            <a:off x="344130" y="973004"/>
            <a:ext cx="11473622" cy="4473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45720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 Hallazgos principales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1. La limpieza de datos fue critica para mejorar la confiabilidad del </a:t>
            </a:r>
            <a:r>
              <a:rPr lang="es-ES" sz="1400" dirty="0" err="1">
                <a:solidFill>
                  <a:schemeClr val="dk1"/>
                </a:solidFill>
              </a:rPr>
              <a:t>analisis</a:t>
            </a:r>
            <a:r>
              <a:rPr lang="es-ES" sz="1400" dirty="0">
                <a:solidFill>
                  <a:schemeClr val="dk1"/>
                </a:solidFill>
              </a:rPr>
              <a:t> y reducir ruido en el modelado.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2. Las nuevas variables aportaron valor predictivo, al capturar patrones que no eran visibles en el </a:t>
            </a:r>
            <a:r>
              <a:rPr lang="es-ES" sz="1400" dirty="0" err="1">
                <a:solidFill>
                  <a:schemeClr val="dk1"/>
                </a:solidFill>
              </a:rPr>
              <a:t>dataset</a:t>
            </a:r>
            <a:r>
              <a:rPr lang="es-ES" sz="1400" dirty="0">
                <a:solidFill>
                  <a:schemeClr val="dk1"/>
                </a:solidFill>
              </a:rPr>
              <a:t> original.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3. El pipeline automatizado mejoro la reproducibilidad, facilitando futuras actualizaciones del modelo.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4. El </a:t>
            </a:r>
            <a:r>
              <a:rPr lang="es-ES" sz="1400" dirty="0" err="1">
                <a:solidFill>
                  <a:schemeClr val="dk1"/>
                </a:solidFill>
              </a:rPr>
              <a:t>analisis</a:t>
            </a:r>
            <a:r>
              <a:rPr lang="es-ES" sz="1400" dirty="0">
                <a:solidFill>
                  <a:schemeClr val="dk1"/>
                </a:solidFill>
              </a:rPr>
              <a:t> </a:t>
            </a:r>
            <a:r>
              <a:rPr lang="es-ES" sz="1400" dirty="0" err="1">
                <a:solidFill>
                  <a:schemeClr val="dk1"/>
                </a:solidFill>
              </a:rPr>
              <a:t>bias</a:t>
            </a:r>
            <a:r>
              <a:rPr lang="es-ES" sz="1400" dirty="0">
                <a:solidFill>
                  <a:schemeClr val="dk1"/>
                </a:solidFill>
              </a:rPr>
              <a:t>-varianza mostro el nivel de complejidad adecuado, logrando un balance razonable entre capacidad predictiva y </a:t>
            </a:r>
            <a:r>
              <a:rPr lang="es-ES" sz="1400" dirty="0" err="1">
                <a:solidFill>
                  <a:schemeClr val="dk1"/>
                </a:solidFill>
              </a:rPr>
              <a:t>generalizacion</a:t>
            </a:r>
            <a:r>
              <a:rPr lang="es-ES" sz="1400" dirty="0">
                <a:solidFill>
                  <a:schemeClr val="dk1"/>
                </a:solidFill>
              </a:rPr>
              <a:t>.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5. La </a:t>
            </a:r>
            <a:r>
              <a:rPr lang="es-ES" sz="1400" dirty="0" err="1">
                <a:solidFill>
                  <a:schemeClr val="dk1"/>
                </a:solidFill>
              </a:rPr>
              <a:t>comparacion</a:t>
            </a:r>
            <a:r>
              <a:rPr lang="es-ES" sz="1400" dirty="0">
                <a:solidFill>
                  <a:schemeClr val="dk1"/>
                </a:solidFill>
              </a:rPr>
              <a:t> de modelos </a:t>
            </a:r>
            <a:r>
              <a:rPr lang="es-ES" sz="1400" dirty="0" err="1">
                <a:solidFill>
                  <a:schemeClr val="dk1"/>
                </a:solidFill>
              </a:rPr>
              <a:t>permitio</a:t>
            </a:r>
            <a:r>
              <a:rPr lang="es-ES" sz="1400" dirty="0">
                <a:solidFill>
                  <a:schemeClr val="dk1"/>
                </a:solidFill>
              </a:rPr>
              <a:t> seleccionar la mejor alternativa </a:t>
            </a:r>
            <a:r>
              <a:rPr lang="es-ES" sz="1400" dirty="0" err="1">
                <a:solidFill>
                  <a:schemeClr val="dk1"/>
                </a:solidFill>
              </a:rPr>
              <a:t>segun</a:t>
            </a:r>
            <a:r>
              <a:rPr lang="es-ES" sz="1400" dirty="0">
                <a:solidFill>
                  <a:schemeClr val="dk1"/>
                </a:solidFill>
              </a:rPr>
              <a:t> las </a:t>
            </a:r>
            <a:r>
              <a:rPr lang="es-ES" sz="1400" dirty="0" err="1">
                <a:solidFill>
                  <a:schemeClr val="dk1"/>
                </a:solidFill>
              </a:rPr>
              <a:t>metricas</a:t>
            </a:r>
            <a:r>
              <a:rPr lang="es-ES" sz="1400" dirty="0">
                <a:solidFill>
                  <a:schemeClr val="dk1"/>
                </a:solidFill>
              </a:rPr>
              <a:t> definidas, evitando decisiones basadas solo en </a:t>
            </a:r>
            <a:r>
              <a:rPr lang="es-ES" sz="1400" dirty="0" err="1">
                <a:solidFill>
                  <a:schemeClr val="dk1"/>
                </a:solidFill>
              </a:rPr>
              <a:t>intuicion</a:t>
            </a:r>
            <a:r>
              <a:rPr lang="es-ES" sz="1400" dirty="0">
                <a:solidFill>
                  <a:schemeClr val="dk1"/>
                </a:solidFill>
              </a:rPr>
              <a:t>.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4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 </a:t>
            </a:r>
            <a:r>
              <a:rPr lang="es-ES" sz="1400" dirty="0" err="1">
                <a:solidFill>
                  <a:schemeClr val="dk1"/>
                </a:solidFill>
              </a:rPr>
              <a:t>Conclusion</a:t>
            </a:r>
            <a:r>
              <a:rPr lang="es-ES" sz="1400" dirty="0">
                <a:solidFill>
                  <a:schemeClr val="dk1"/>
                </a:solidFill>
              </a:rPr>
              <a:t> ejecutiva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El </a:t>
            </a:r>
            <a:r>
              <a:rPr lang="es-ES" sz="1400" dirty="0" err="1">
                <a:solidFill>
                  <a:schemeClr val="dk1"/>
                </a:solidFill>
              </a:rPr>
              <a:t>analisis</a:t>
            </a:r>
            <a:r>
              <a:rPr lang="es-ES" sz="1400" dirty="0">
                <a:solidFill>
                  <a:schemeClr val="dk1"/>
                </a:solidFill>
              </a:rPr>
              <a:t> confirma que un proceso riguroso de </a:t>
            </a:r>
            <a:r>
              <a:rPr lang="es-ES" sz="1400" dirty="0" err="1">
                <a:solidFill>
                  <a:schemeClr val="dk1"/>
                </a:solidFill>
              </a:rPr>
              <a:t>preparacion</a:t>
            </a:r>
            <a:r>
              <a:rPr lang="es-ES" sz="1400" dirty="0">
                <a:solidFill>
                  <a:schemeClr val="dk1"/>
                </a:solidFill>
              </a:rPr>
              <a:t> de datos, junto con una </a:t>
            </a:r>
            <a:r>
              <a:rPr lang="es-ES" sz="1400" dirty="0" err="1">
                <a:solidFill>
                  <a:schemeClr val="dk1"/>
                </a:solidFill>
              </a:rPr>
              <a:t>seleccion</a:t>
            </a:r>
            <a:r>
              <a:rPr lang="es-ES" sz="1400" dirty="0">
                <a:solidFill>
                  <a:schemeClr val="dk1"/>
                </a:solidFill>
              </a:rPr>
              <a:t> cuidadosa de variables y modelos, permite construir una </a:t>
            </a:r>
            <a:r>
              <a:rPr lang="es-ES" sz="1400" dirty="0" err="1">
                <a:solidFill>
                  <a:schemeClr val="dk1"/>
                </a:solidFill>
              </a:rPr>
              <a:t>solucion</a:t>
            </a:r>
            <a:r>
              <a:rPr lang="es-ES" sz="1400" dirty="0">
                <a:solidFill>
                  <a:schemeClr val="dk1"/>
                </a:solidFill>
              </a:rPr>
              <a:t> </a:t>
            </a:r>
            <a:r>
              <a:rPr lang="es-ES" sz="1400" dirty="0" err="1">
                <a:solidFill>
                  <a:schemeClr val="dk1"/>
                </a:solidFill>
              </a:rPr>
              <a:t>analitica</a:t>
            </a:r>
            <a:r>
              <a:rPr lang="es-ES" sz="1400" dirty="0">
                <a:solidFill>
                  <a:schemeClr val="dk1"/>
                </a:solidFill>
              </a:rPr>
              <a:t> solida para clientes de telecomunicaciones. En </a:t>
            </a:r>
            <a:r>
              <a:rPr lang="es-ES" sz="1400" dirty="0" err="1">
                <a:solidFill>
                  <a:schemeClr val="dk1"/>
                </a:solidFill>
              </a:rPr>
              <a:t>terminos</a:t>
            </a:r>
            <a:r>
              <a:rPr lang="es-ES" sz="1400" dirty="0">
                <a:solidFill>
                  <a:schemeClr val="dk1"/>
                </a:solidFill>
              </a:rPr>
              <a:t> de negocio, este enfoque mejora la </a:t>
            </a:r>
            <a:r>
              <a:rPr lang="es-ES" sz="1400" dirty="0" err="1">
                <a:solidFill>
                  <a:schemeClr val="dk1"/>
                </a:solidFill>
              </a:rPr>
              <a:t>interpretacion</a:t>
            </a:r>
            <a:r>
              <a:rPr lang="es-ES" sz="1400" dirty="0">
                <a:solidFill>
                  <a:schemeClr val="dk1"/>
                </a:solidFill>
              </a:rPr>
              <a:t> de los patrones observados, fortalece la capacidad predictiva y entrega una base confiable para apoyar decisiones comerciales y operativas.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4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Recomendación final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Para la siguiente </a:t>
            </a:r>
            <a:r>
              <a:rPr lang="es-ES" sz="1400" dirty="0" err="1">
                <a:solidFill>
                  <a:schemeClr val="dk1"/>
                </a:solidFill>
              </a:rPr>
              <a:t>iteracion</a:t>
            </a:r>
            <a:r>
              <a:rPr lang="es-ES" sz="1400" dirty="0">
                <a:solidFill>
                  <a:schemeClr val="dk1"/>
                </a:solidFill>
              </a:rPr>
              <a:t>, se sugiere: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- incorporar mas variables de comportamiento del cliente,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- probar modelos no lineales adicionales,</a:t>
            </a:r>
          </a:p>
          <a:p>
            <a:pPr marL="457200" lvl="0" indent="0" algn="l" rtl="0">
              <a:lnSpc>
                <a:spcPct val="101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</a:rPr>
              <a:t>- y validar el desempeño con </a:t>
            </a:r>
            <a:r>
              <a:rPr lang="es-ES" sz="1400" dirty="0" err="1">
                <a:solidFill>
                  <a:schemeClr val="dk1"/>
                </a:solidFill>
              </a:rPr>
              <a:t>metricas</a:t>
            </a:r>
            <a:r>
              <a:rPr lang="es-ES" sz="1400" dirty="0">
                <a:solidFill>
                  <a:schemeClr val="dk1"/>
                </a:solidFill>
              </a:rPr>
              <a:t> orientadas al objetivo de negocio.</a:t>
            </a:r>
          </a:p>
        </p:txBody>
      </p:sp>
    </p:spTree>
    <p:extLst>
      <p:ext uri="{BB962C8B-B14F-4D97-AF65-F5344CB8AC3E}">
        <p14:creationId xmlns:p14="http://schemas.microsoft.com/office/powerpoint/2010/main" val="383755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"/>
          <p:cNvSpPr txBox="1">
            <a:spLocks noGrp="1"/>
          </p:cNvSpPr>
          <p:nvPr>
            <p:ph type="title" idx="4294967295"/>
          </p:nvPr>
        </p:nvSpPr>
        <p:spPr>
          <a:xfrm>
            <a:off x="8458560" y="2752560"/>
            <a:ext cx="2805480" cy="162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CL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Anexos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>
            <a:spLocks noGrp="1"/>
          </p:cNvSpPr>
          <p:nvPr>
            <p:ph type="body" idx="4294967295"/>
          </p:nvPr>
        </p:nvSpPr>
        <p:spPr>
          <a:xfrm>
            <a:off x="654840" y="551160"/>
            <a:ext cx="4916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s-CL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Anexos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>
            <a:spLocks noGrp="1"/>
          </p:cNvSpPr>
          <p:nvPr>
            <p:ph type="body" idx="4294967295"/>
          </p:nvPr>
        </p:nvSpPr>
        <p:spPr>
          <a:xfrm>
            <a:off x="640800" y="1137600"/>
            <a:ext cx="493056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rPr lang="es-CL" sz="1400" dirty="0">
                <a:solidFill>
                  <a:schemeClr val="dk1"/>
                </a:solidFill>
                <a:hlinkClick r:id="rId3"/>
              </a:rPr>
              <a:t>https://docs.google.com/document/d/11bYmilhOMiZzPRnzzdvgEaLS9XBIYeQwK1JN75BjNKo/edit?usp=sharing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530025" y="2034375"/>
            <a:ext cx="4931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hlinkClick r:id="rId4"/>
              </a:rPr>
              <a:t>https://github.com/GabTo0011/entrega_1-prog_para_ciencia_datos</a:t>
            </a:r>
            <a:endParaRPr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1366</Words>
  <Application>Microsoft Office PowerPoint</Application>
  <PresentationFormat>Panorámica</PresentationFormat>
  <Paragraphs>117</Paragraphs>
  <Slides>16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9</vt:i4>
      </vt:variant>
      <vt:variant>
        <vt:lpstr>Títulos de diapositiva</vt:lpstr>
      </vt:variant>
      <vt:variant>
        <vt:i4>16</vt:i4>
      </vt:variant>
    </vt:vector>
  </HeadingPairs>
  <TitlesOfParts>
    <vt:vector size="28" baseType="lpstr">
      <vt:lpstr>Arial</vt:lpstr>
      <vt:lpstr>Noto Sans Symbols</vt:lpstr>
      <vt:lpstr>Times New Roman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Presentación EA1 “Transformación de datos”.</vt:lpstr>
      <vt:lpstr>Objetivo </vt:lpstr>
      <vt:lpstr>Presentación de PowerPoint</vt:lpstr>
      <vt:lpstr>Diagnóstico del problema</vt:lpstr>
      <vt:lpstr>Presentación de PowerPoint</vt:lpstr>
      <vt:lpstr>Presentación de PowerPoint</vt:lpstr>
      <vt:lpstr>Análisis Final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Anexos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Daniela Osorio C.</dc:creator>
  <cp:lastModifiedBy>Gabriel Toledo</cp:lastModifiedBy>
  <cp:revision>4</cp:revision>
  <dcterms:created xsi:type="dcterms:W3CDTF">2024-03-07T18:55:37Z</dcterms:created>
  <dcterms:modified xsi:type="dcterms:W3CDTF">2026-04-22T01:44:40Z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0x010100B7B2C2C7448D3B49B948ADF2E0C59D3B</vt:lpwstr>
  </property>
  <property fmtid="{D5CDD505-2E9C-101B-9397-08002B2CF9AE}" pid="4" name="Notes">
    <vt:i4>1</vt:i4>
  </property>
  <property fmtid="{D5CDD505-2E9C-101B-9397-08002B2CF9AE}" pid="5" name="Order">
    <vt:r8>170200</vt:r8>
  </property>
  <property fmtid="{D5CDD505-2E9C-101B-9397-08002B2CF9AE}" pid="6" name="PresentationFormat">
    <vt:lpwstr>Panorámica</vt:lpwstr>
  </property>
  <property fmtid="{D5CDD505-2E9C-101B-9397-08002B2CF9AE}" pid="7" name="Slides">
    <vt:i4>13</vt:i4>
  </property>
  <property fmtid="{D5CDD505-2E9C-101B-9397-08002B2CF9AE}" pid="8" name="TemplateUrl">
    <vt:lpwstr/>
  </property>
  <property fmtid="{D5CDD505-2E9C-101B-9397-08002B2CF9AE}" pid="9" name="TriggerFlowInfo">
    <vt:lpwstr/>
  </property>
  <property fmtid="{D5CDD505-2E9C-101B-9397-08002B2CF9AE}" pid="10" name="_ExtendedDescription">
    <vt:lpwstr/>
  </property>
  <property fmtid="{D5CDD505-2E9C-101B-9397-08002B2CF9AE}" pid="11" name="_SharedFileIndex">
    <vt:lpwstr/>
  </property>
  <property fmtid="{D5CDD505-2E9C-101B-9397-08002B2CF9AE}" pid="12" name="_SourceUrl">
    <vt:lpwstr/>
  </property>
  <property fmtid="{D5CDD505-2E9C-101B-9397-08002B2CF9AE}" pid="13" name="xd_ProgID">
    <vt:lpwstr/>
  </property>
  <property fmtid="{D5CDD505-2E9C-101B-9397-08002B2CF9AE}" pid="14" name="xd_Signature">
    <vt:bool>false</vt:bool>
  </property>
</Properties>
</file>