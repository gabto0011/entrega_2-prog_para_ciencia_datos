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</p:sldMasterIdLst>
  <p:notesMasterIdLst>
    <p:notesMasterId r:id="rId26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embeddedFontLst>
    <p:embeddedFont>
      <p:font typeface="Roboto Mono" panose="00000009000000000000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ADjGNZNceeQmMuxzzTxcYVwVT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s-CL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s-CL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1412ff6db_0_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e1412ff6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1412ff6d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400" cy="400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1412ff6db_0_3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e1412ff6db_0_39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s-CL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principal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1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1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2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4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3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PA FINAL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59120" y="1796760"/>
            <a:ext cx="70560" cy="32641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4"/>
          <p:cNvSpPr/>
          <p:nvPr/>
        </p:nvSpPr>
        <p:spPr>
          <a:xfrm>
            <a:off x="5945040" y="616680"/>
            <a:ext cx="5674320" cy="56667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4"/>
          <p:cNvSpPr/>
          <p:nvPr/>
        </p:nvSpPr>
        <p:spPr>
          <a:xfrm>
            <a:off x="6398640" y="2788560"/>
            <a:ext cx="294480" cy="294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14"/>
          <p:cNvCxnSpPr/>
          <p:nvPr/>
        </p:nvCxnSpPr>
        <p:spPr>
          <a:xfrm>
            <a:off x="6995880" y="4106160"/>
            <a:ext cx="4115160" cy="36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6915960" y="2601360"/>
            <a:ext cx="4377600" cy="130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" name="Google Shape;1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68680" y="1207080"/>
            <a:ext cx="3375720" cy="5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4"/>
          <p:cNvSpPr txBox="1">
            <a:spLocks noGrp="1"/>
          </p:cNvSpPr>
          <p:nvPr>
            <p:ph type="body" idx="1"/>
          </p:nvPr>
        </p:nvSpPr>
        <p:spPr>
          <a:xfrm rot="-2190600">
            <a:off x="167400" y="2887200"/>
            <a:ext cx="10722240" cy="174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/>
          <p:nvPr/>
        </p:nvSpPr>
        <p:spPr>
          <a:xfrm>
            <a:off x="7765200" y="2143800"/>
            <a:ext cx="3936600" cy="284508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6"/>
          <p:cNvSpPr/>
          <p:nvPr/>
        </p:nvSpPr>
        <p:spPr>
          <a:xfrm>
            <a:off x="7765200" y="2143800"/>
            <a:ext cx="342360" cy="342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6"/>
          <p:cNvSpPr txBox="1">
            <a:spLocks noGrp="1"/>
          </p:cNvSpPr>
          <p:nvPr>
            <p:ph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/>
          <p:nvPr/>
        </p:nvSpPr>
        <p:spPr>
          <a:xfrm>
            <a:off x="0" y="2694960"/>
            <a:ext cx="1459440" cy="1467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6"/>
          <p:cNvSpPr/>
          <p:nvPr/>
        </p:nvSpPr>
        <p:spPr>
          <a:xfrm>
            <a:off x="0" y="2752560"/>
            <a:ext cx="145944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s-CL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8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654840" y="55116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body" idx="2"/>
          </p:nvPr>
        </p:nvSpPr>
        <p:spPr>
          <a:xfrm>
            <a:off x="640800" y="1137600"/>
            <a:ext cx="493056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8"/>
          <p:cNvSpPr/>
          <p:nvPr/>
        </p:nvSpPr>
        <p:spPr>
          <a:xfrm>
            <a:off x="0" y="0"/>
            <a:ext cx="552600" cy="5526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p18"/>
          <p:cNvGrpSpPr/>
          <p:nvPr/>
        </p:nvGrpSpPr>
        <p:grpSpPr>
          <a:xfrm>
            <a:off x="10559160" y="6273360"/>
            <a:ext cx="1404720" cy="320760"/>
            <a:chOff x="10559160" y="6273360"/>
            <a:chExt cx="1404720" cy="320760"/>
          </a:xfrm>
        </p:grpSpPr>
        <p:sp>
          <p:nvSpPr>
            <p:cNvPr id="31" name="Google Shape;31;p18"/>
            <p:cNvSpPr/>
            <p:nvPr/>
          </p:nvSpPr>
          <p:spPr>
            <a:xfrm>
              <a:off x="10559160" y="6311160"/>
              <a:ext cx="868320" cy="281520"/>
            </a:xfrm>
            <a:custGeom>
              <a:avLst/>
              <a:gdLst/>
              <a:ahLst/>
              <a:cxnLst/>
              <a:rect l="l" t="t" r="r" b="b"/>
              <a:pathLst>
                <a:path w="1618615" h="525145" extrusionOk="0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 extrusionOk="0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 extrusionOk="0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 extrusionOk="0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8"/>
            <p:cNvSpPr/>
            <p:nvPr/>
          </p:nvSpPr>
          <p:spPr>
            <a:xfrm>
              <a:off x="11487600" y="6334920"/>
              <a:ext cx="208080" cy="258480"/>
            </a:xfrm>
            <a:custGeom>
              <a:avLst/>
              <a:gdLst/>
              <a:ahLst/>
              <a:cxnLst/>
              <a:rect l="l" t="t" r="r" b="b"/>
              <a:pathLst>
                <a:path w="388619" h="482600" extrusionOk="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" name="Google Shape;33;p18"/>
            <p:cNvGrpSpPr/>
            <p:nvPr/>
          </p:nvGrpSpPr>
          <p:grpSpPr>
            <a:xfrm>
              <a:off x="11724840" y="6273360"/>
              <a:ext cx="239040" cy="320760"/>
              <a:chOff x="11724840" y="6273360"/>
              <a:chExt cx="239040" cy="320760"/>
            </a:xfrm>
          </p:grpSpPr>
          <p:sp>
            <p:nvSpPr>
              <p:cNvPr id="34" name="Google Shape;34;p18"/>
              <p:cNvSpPr/>
              <p:nvPr/>
            </p:nvSpPr>
            <p:spPr>
              <a:xfrm>
                <a:off x="11724840" y="6330960"/>
                <a:ext cx="201600" cy="263160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 extrusionOk="0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" name="Google Shape;35;p1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904120" y="6273360"/>
                <a:ext cx="59760" cy="597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6" name="Google Shape;3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2714760" y="4342320"/>
            <a:ext cx="119160" cy="423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/>
          <p:nvPr/>
        </p:nvSpPr>
        <p:spPr>
          <a:xfrm>
            <a:off x="7765200" y="2143800"/>
            <a:ext cx="3936600" cy="284508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0"/>
          <p:cNvSpPr/>
          <p:nvPr/>
        </p:nvSpPr>
        <p:spPr>
          <a:xfrm>
            <a:off x="7765200" y="2143800"/>
            <a:ext cx="342360" cy="342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0"/>
          <p:cNvSpPr/>
          <p:nvPr/>
        </p:nvSpPr>
        <p:spPr>
          <a:xfrm>
            <a:off x="0" y="2694960"/>
            <a:ext cx="1459440" cy="1467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0"/>
          <p:cNvSpPr/>
          <p:nvPr/>
        </p:nvSpPr>
        <p:spPr>
          <a:xfrm>
            <a:off x="0" y="2752560"/>
            <a:ext cx="145944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s-CL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/>
          <p:nvPr/>
        </p:nvSpPr>
        <p:spPr>
          <a:xfrm>
            <a:off x="7765200" y="2143800"/>
            <a:ext cx="3936600" cy="284508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2"/>
          <p:cNvSpPr/>
          <p:nvPr/>
        </p:nvSpPr>
        <p:spPr>
          <a:xfrm>
            <a:off x="7765200" y="2143800"/>
            <a:ext cx="342360" cy="342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22"/>
          <p:cNvSpPr/>
          <p:nvPr/>
        </p:nvSpPr>
        <p:spPr>
          <a:xfrm>
            <a:off x="0" y="2694960"/>
            <a:ext cx="1459440" cy="1467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2"/>
          <p:cNvSpPr/>
          <p:nvPr/>
        </p:nvSpPr>
        <p:spPr>
          <a:xfrm>
            <a:off x="0" y="2752560"/>
            <a:ext cx="145944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s-CL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/>
          <p:nvPr/>
        </p:nvSpPr>
        <p:spPr>
          <a:xfrm>
            <a:off x="7765200" y="2143800"/>
            <a:ext cx="3936600" cy="284508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4"/>
          <p:cNvSpPr/>
          <p:nvPr/>
        </p:nvSpPr>
        <p:spPr>
          <a:xfrm>
            <a:off x="7765200" y="2143800"/>
            <a:ext cx="342360" cy="342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4"/>
          <p:cNvSpPr txBox="1">
            <a:spLocks noGrp="1"/>
          </p:cNvSpPr>
          <p:nvPr>
            <p:ph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24"/>
          <p:cNvSpPr/>
          <p:nvPr/>
        </p:nvSpPr>
        <p:spPr>
          <a:xfrm>
            <a:off x="0" y="2694960"/>
            <a:ext cx="1459440" cy="1467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4"/>
          <p:cNvSpPr/>
          <p:nvPr/>
        </p:nvSpPr>
        <p:spPr>
          <a:xfrm>
            <a:off x="0" y="2752560"/>
            <a:ext cx="145944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s-CL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8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26"/>
          <p:cNvGrpSpPr/>
          <p:nvPr/>
        </p:nvGrpSpPr>
        <p:grpSpPr>
          <a:xfrm>
            <a:off x="2569680" y="5445720"/>
            <a:ext cx="7052400" cy="563040"/>
            <a:chOff x="2569680" y="5445720"/>
            <a:chExt cx="7052400" cy="563040"/>
          </a:xfrm>
        </p:grpSpPr>
        <p:pic>
          <p:nvPicPr>
            <p:cNvPr id="66" name="Google Shape;66;p2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69840" y="5445720"/>
              <a:ext cx="5052240" cy="563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569680" y="5505480"/>
              <a:ext cx="1331280" cy="443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" name="Google Shape;68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97160" y="2291760"/>
            <a:ext cx="3997440" cy="129672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htx9o8NxJdPyUWSJ1O73EhIPyVgo0Vq-/view?usp=drive_link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GabTo0011/entrega_2-prog_para_ciencia_datos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>
            <a:spLocks noGrp="1"/>
          </p:cNvSpPr>
          <p:nvPr>
            <p:ph type="title" idx="4294967295"/>
          </p:nvPr>
        </p:nvSpPr>
        <p:spPr>
          <a:xfrm>
            <a:off x="7013160" y="2601360"/>
            <a:ext cx="4280040" cy="113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Desarrollo de Modelos de Triaje para Cáncer de Piel en Chile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1">
              <a:solidFill>
                <a:schemeClr val="lt1"/>
              </a:solidFill>
            </a:endParaRPr>
          </a:p>
        </p:txBody>
      </p:sp>
      <p:sp>
        <p:nvSpPr>
          <p:cNvPr id="78" name="Google Shape;78;p1"/>
          <p:cNvSpPr/>
          <p:nvPr/>
        </p:nvSpPr>
        <p:spPr>
          <a:xfrm>
            <a:off x="6931800" y="4334760"/>
            <a:ext cx="4174920" cy="158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sz="1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Grupo </a:t>
            </a:r>
            <a:r>
              <a:rPr lang="es-CL" sz="14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N°</a:t>
            </a:r>
            <a:r>
              <a:rPr lang="es-CL" sz="1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:002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sz="1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Integrantes: 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sz="1400" b="1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Integrante 1: Gabriel Toledo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sz="1400" b="1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Integrante 2: Daniela Zarate</a:t>
            </a:r>
            <a:endParaRPr sz="1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L" sz="2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sz="1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Evaluación Parcial </a:t>
            </a:r>
            <a:r>
              <a:rPr lang="es-CL" b="1" dirty="0" err="1">
                <a:solidFill>
                  <a:schemeClr val="lt1"/>
                </a:solidFill>
              </a:rPr>
              <a:t>N°</a:t>
            </a:r>
            <a:r>
              <a:rPr lang="es-CL" b="1" dirty="0">
                <a:solidFill>
                  <a:schemeClr val="lt1"/>
                </a:solidFill>
              </a:rPr>
              <a:t> 2</a:t>
            </a:r>
            <a:endParaRPr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>
            <a:spLocks noGrp="1"/>
          </p:cNvSpPr>
          <p:nvPr>
            <p:ph type="title" idx="4294967295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CL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br>
              <a:rPr lang="es-CL" sz="3200" b="0" i="0" u="none" strike="noStrike" cap="none"/>
            </a:b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>
            <a:spLocks noGrp="1"/>
          </p:cNvSpPr>
          <p:nvPr>
            <p:ph type="body" idx="4294967295"/>
          </p:nvPr>
        </p:nvSpPr>
        <p:spPr>
          <a:xfrm>
            <a:off x="647640" y="1725120"/>
            <a:ext cx="9896760" cy="3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1999" marR="0" lvl="0" indent="-29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Noto Sans Symbols"/>
              <a:buChar char="●"/>
            </a:pPr>
            <a:r>
              <a:rPr lang="es-CL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Nuestro objetivo es consolidar la limpieza y causalidad de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>
                <a:solidFill>
                  <a:srgbClr val="2C5D8F"/>
                </a:solidFill>
                <a:highlight>
                  <a:srgbClr val="F4F7F9"/>
                </a:highlight>
              </a:rPr>
              <a:t>¿Por qué Modelos Supervisados?</a:t>
            </a:r>
            <a:endParaRPr sz="2000" b="1">
              <a:solidFill>
                <a:srgbClr val="2C5D8F"/>
              </a:solidFill>
              <a:highlight>
                <a:srgbClr val="F4F7F9"/>
              </a:highlight>
            </a:endParaRPr>
          </a:p>
          <a:p>
            <a:pPr marL="457200" lvl="0" indent="-333375" algn="l" rtl="0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Clr>
                <a:srgbClr val="555555"/>
              </a:buClr>
              <a:buSzPts val="1650"/>
              <a:buChar char="●"/>
            </a:pPr>
            <a:r>
              <a:rPr lang="es-CL" sz="1650" b="1">
                <a:solidFill>
                  <a:srgbClr val="555555"/>
                </a:solidFill>
                <a:highlight>
                  <a:srgbClr val="F4F7F9"/>
                </a:highlight>
              </a:rPr>
              <a:t>Pertinencia:</a:t>
            </a:r>
            <a:r>
              <a:rPr lang="es-CL" sz="1650">
                <a:solidFill>
                  <a:srgbClr val="555555"/>
                </a:solidFill>
                <a:highlight>
                  <a:srgbClr val="F4F7F9"/>
                </a:highlight>
              </a:rPr>
              <a:t> El problema es de clasificación binaria (Riesgo vs Sano).</a:t>
            </a:r>
            <a:endParaRPr sz="165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50"/>
              <a:buChar char="●"/>
            </a:pPr>
            <a:r>
              <a:rPr lang="es-CL" sz="1650" b="1">
                <a:solidFill>
                  <a:srgbClr val="555555"/>
                </a:solidFill>
                <a:highlight>
                  <a:srgbClr val="F4F7F9"/>
                </a:highlight>
              </a:rPr>
              <a:t>Random Forest:</a:t>
            </a:r>
            <a:r>
              <a:rPr lang="es-CL" sz="1650">
                <a:solidFill>
                  <a:srgbClr val="555555"/>
                </a:solidFill>
                <a:highlight>
                  <a:srgbClr val="F4F7F9"/>
                </a:highlight>
              </a:rPr>
              <a:t> Capacidad para capturar relaciones no lineales entre Edad, IMC y síntomas.</a:t>
            </a:r>
            <a:endParaRPr sz="165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50"/>
              <a:buChar char="●"/>
            </a:pPr>
            <a:r>
              <a:rPr lang="es-CL" sz="1650" b="1">
                <a:solidFill>
                  <a:srgbClr val="555555"/>
                </a:solidFill>
                <a:highlight>
                  <a:srgbClr val="F4F7F9"/>
                </a:highlight>
              </a:rPr>
              <a:t>SVM:</a:t>
            </a:r>
            <a:r>
              <a:rPr lang="es-CL" sz="1650">
                <a:solidFill>
                  <a:srgbClr val="555555"/>
                </a:solidFill>
                <a:highlight>
                  <a:srgbClr val="F4F7F9"/>
                </a:highlight>
              </a:rPr>
              <a:t> Robusto ante datos de alta dimensionalidad (27 variables clínicas).</a:t>
            </a:r>
            <a:endParaRPr sz="165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755350" y="519225"/>
            <a:ext cx="55647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150" b="1">
                <a:solidFill>
                  <a:srgbClr val="1A3C5E"/>
                </a:solidFill>
              </a:rPr>
              <a:t>Justificación del Enfoque</a:t>
            </a:r>
            <a:endParaRPr sz="3150" b="1">
              <a:solidFill>
                <a:srgbClr val="1A3C5E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>
            <a:spLocks noGrp="1"/>
          </p:cNvSpPr>
          <p:nvPr>
            <p:ph type="title" idx="4294967295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CL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Diagnóstico del problema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body" idx="4294967295"/>
          </p:nvPr>
        </p:nvSpPr>
        <p:spPr>
          <a:xfrm>
            <a:off x="3218405" y="622185"/>
            <a:ext cx="63564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CL" sz="3200" b="1">
                <a:solidFill>
                  <a:schemeClr val="dk1"/>
                </a:solidFill>
              </a:rPr>
              <a:t>Comparación de los datos 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4075"/>
            <a:ext cx="7313024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1249" y="2792660"/>
            <a:ext cx="4421776" cy="237660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 txBox="1"/>
          <p:nvPr/>
        </p:nvSpPr>
        <p:spPr>
          <a:xfrm>
            <a:off x="8080550" y="1695863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>
                <a:solidFill>
                  <a:schemeClr val="dk1"/>
                </a:solidFill>
                <a:highlight>
                  <a:schemeClr val="lt1"/>
                </a:highlight>
              </a:rPr>
              <a:t>mejoró en detección de riesgo o bajó en precisión pero ganó sensibilidad 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412ff6db_0_0"/>
          <p:cNvSpPr txBox="1">
            <a:spLocks noGrp="1"/>
          </p:cNvSpPr>
          <p:nvPr>
            <p:ph type="body" idx="4294967295"/>
          </p:nvPr>
        </p:nvSpPr>
        <p:spPr>
          <a:xfrm>
            <a:off x="1218375" y="610550"/>
            <a:ext cx="91044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318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200"/>
              <a:buChar char="•"/>
            </a:pPr>
            <a:r>
              <a:rPr lang="es-CL" sz="3150" b="1">
                <a:solidFill>
                  <a:srgbClr val="1A3C5E"/>
                </a:solidFill>
              </a:rPr>
              <a:t>Demostración de Resultados Clave</a:t>
            </a:r>
            <a:endParaRPr sz="3150" b="1">
              <a:solidFill>
                <a:srgbClr val="1A3C5E"/>
              </a:solidFill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3200" b="1">
              <a:solidFill>
                <a:schemeClr val="dk1"/>
              </a:solidFill>
            </a:endParaRPr>
          </a:p>
        </p:txBody>
      </p:sp>
      <p:sp>
        <p:nvSpPr>
          <p:cNvPr id="108" name="Google Shape;108;g3e1412ff6db_0_0"/>
          <p:cNvSpPr txBox="1"/>
          <p:nvPr/>
        </p:nvSpPr>
        <p:spPr>
          <a:xfrm>
            <a:off x="828000" y="2340000"/>
            <a:ext cx="4392000" cy="3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2850" b="1">
                <a:solidFill>
                  <a:srgbClr val="2C5D8F"/>
                </a:solidFill>
                <a:highlight>
                  <a:srgbClr val="F4F7F9"/>
                </a:highlight>
              </a:rPr>
              <a:t>Interpretación de Hallazgos</a:t>
            </a:r>
            <a:endParaRPr sz="2850" b="1">
              <a:solidFill>
                <a:srgbClr val="2C5D8F"/>
              </a:solidFill>
              <a:highlight>
                <a:srgbClr val="F4F7F9"/>
              </a:highlight>
            </a:endParaRPr>
          </a:p>
          <a:p>
            <a:pPr marL="457200" lvl="0" indent="-329798" algn="l" rtl="0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Clr>
                <a:srgbClr val="555555"/>
              </a:buClr>
              <a:buSzPct val="100000"/>
              <a:buChar char="●"/>
            </a:pPr>
            <a:r>
              <a:rPr lang="es-CL" sz="2277">
                <a:solidFill>
                  <a:srgbClr val="555555"/>
                </a:solidFill>
                <a:highlight>
                  <a:srgbClr val="F4F7F9"/>
                </a:highlight>
              </a:rPr>
              <a:t>La </a:t>
            </a:r>
            <a:r>
              <a:rPr lang="es-CL" sz="2277" b="1">
                <a:solidFill>
                  <a:srgbClr val="555555"/>
                </a:solidFill>
                <a:highlight>
                  <a:srgbClr val="F4F7F9"/>
                </a:highlight>
              </a:rPr>
              <a:t>Edad</a:t>
            </a:r>
            <a:r>
              <a:rPr lang="es-CL" sz="2277">
                <a:solidFill>
                  <a:srgbClr val="555555"/>
                </a:solidFill>
                <a:highlight>
                  <a:srgbClr val="F4F7F9"/>
                </a:highlight>
              </a:rPr>
              <a:t> muestra un umbral de riesgo crítico a partir de los 65 años.</a:t>
            </a:r>
            <a:endParaRPr sz="2277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lvl="0" indent="-329798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ct val="100000"/>
              <a:buChar char="●"/>
            </a:pPr>
            <a:r>
              <a:rPr lang="es-CL" sz="2277" b="1">
                <a:solidFill>
                  <a:srgbClr val="555555"/>
                </a:solidFill>
                <a:highlight>
                  <a:srgbClr val="F4F7F9"/>
                </a:highlight>
              </a:rPr>
              <a:t>Localización:</a:t>
            </a:r>
            <a:r>
              <a:rPr lang="es-CL" sz="2277">
                <a:solidFill>
                  <a:srgbClr val="555555"/>
                </a:solidFill>
                <a:highlight>
                  <a:srgbClr val="F4F7F9"/>
                </a:highlight>
              </a:rPr>
              <a:t> Lesiones en Cabeza y Cuello tienen 3x más probabilidad de ser positivas.</a:t>
            </a:r>
            <a:endParaRPr sz="2277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lvl="0" indent="-329798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ct val="100000"/>
              <a:buChar char="●"/>
            </a:pPr>
            <a:r>
              <a:rPr lang="es-CL" sz="2277">
                <a:solidFill>
                  <a:srgbClr val="555555"/>
                </a:solidFill>
                <a:highlight>
                  <a:srgbClr val="F4F7F9"/>
                </a:highlight>
              </a:rPr>
              <a:t>El </a:t>
            </a:r>
            <a:r>
              <a:rPr lang="es-CL" sz="2277" b="1">
                <a:solidFill>
                  <a:srgbClr val="555555"/>
                </a:solidFill>
                <a:highlight>
                  <a:srgbClr val="F4F7F9"/>
                </a:highlight>
              </a:rPr>
              <a:t>IMC</a:t>
            </a:r>
            <a:r>
              <a:rPr lang="es-CL" sz="2277">
                <a:solidFill>
                  <a:srgbClr val="555555"/>
                </a:solidFill>
                <a:highlight>
                  <a:srgbClr val="F4F7F9"/>
                </a:highlight>
              </a:rPr>
              <a:t> no mostró correlación directa, permitiendo simplificar el modelo.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  <p:pic>
        <p:nvPicPr>
          <p:cNvPr id="109" name="Google Shape;109;g3e1412ff6d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000" y="2814650"/>
            <a:ext cx="6667199" cy="2458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body" idx="4294967295"/>
          </p:nvPr>
        </p:nvSpPr>
        <p:spPr>
          <a:xfrm>
            <a:off x="1501560" y="1937880"/>
            <a:ext cx="9001080" cy="19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s-CL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Pausa de 2 min. Responde 2 preguntas</a:t>
            </a:r>
            <a:endParaRPr sz="6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>
            <a:spLocks noGrp="1"/>
          </p:cNvSpPr>
          <p:nvPr>
            <p:ph type="title" idx="4294967295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CL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Final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>
            <a:spLocks noGrp="1"/>
          </p:cNvSpPr>
          <p:nvPr>
            <p:ph type="body" idx="4294967295"/>
          </p:nvPr>
        </p:nvSpPr>
        <p:spPr>
          <a:xfrm>
            <a:off x="1451849" y="488825"/>
            <a:ext cx="92883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318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200"/>
              <a:buChar char="•"/>
            </a:pPr>
            <a:r>
              <a:rPr lang="es-CL" sz="3150" b="1">
                <a:solidFill>
                  <a:srgbClr val="1A3C5E"/>
                </a:solidFill>
              </a:rPr>
              <a:t>Comparación de Métricas Base</a:t>
            </a:r>
            <a:endParaRPr sz="3150" b="1">
              <a:solidFill>
                <a:srgbClr val="1A3C5E"/>
              </a:solidFill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3200" b="1">
              <a:solidFill>
                <a:schemeClr val="dk1"/>
              </a:solidFill>
            </a:endParaRPr>
          </a:p>
        </p:txBody>
      </p:sp>
      <p:pic>
        <p:nvPicPr>
          <p:cNvPr id="125" name="Google Shape;12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4100" y="2505250"/>
            <a:ext cx="6077899" cy="217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625" y="2132325"/>
            <a:ext cx="5805426" cy="2924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2"/>
          <p:cNvSpPr txBox="1"/>
          <p:nvPr/>
        </p:nvSpPr>
        <p:spPr>
          <a:xfrm>
            <a:off x="1061883" y="473704"/>
            <a:ext cx="89769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s-CL" sz="3150" b="1">
                <a:solidFill>
                  <a:srgbClr val="1A3C5E"/>
                </a:solidFill>
              </a:rPr>
              <a:t>Trade-offs y Visualización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32" name="Google Shape;132;p32"/>
          <p:cNvSpPr txBox="1"/>
          <p:nvPr/>
        </p:nvSpPr>
        <p:spPr>
          <a:xfrm>
            <a:off x="475000" y="1451425"/>
            <a:ext cx="3646200" cy="29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1300" b="1">
                <a:solidFill>
                  <a:srgbClr val="2C5D8F"/>
                </a:solidFill>
                <a:highlight>
                  <a:srgbClr val="F4F7F9"/>
                </a:highlight>
              </a:rPr>
              <a:t>Análisis de la Matriz de Confusión</a:t>
            </a:r>
            <a:endParaRPr sz="1300" b="1">
              <a:solidFill>
                <a:srgbClr val="2C5D8F"/>
              </a:solidFill>
              <a:highlight>
                <a:srgbClr val="F4F7F9"/>
              </a:highlight>
            </a:endParaRPr>
          </a:p>
          <a:p>
            <a:pPr marL="457200" lvl="0" indent="-333375" algn="l" rtl="0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Clr>
                <a:srgbClr val="555555"/>
              </a:buClr>
              <a:buSzPts val="1650"/>
              <a:buChar char="●"/>
            </a:pPr>
            <a:r>
              <a:rPr lang="es-CL" sz="1650">
                <a:solidFill>
                  <a:srgbClr val="555555"/>
                </a:solidFill>
                <a:highlight>
                  <a:srgbClr val="F4F7F9"/>
                </a:highlight>
              </a:rPr>
              <a:t>El modelo base "ignora" a la clase minoritaria (pacientes con cáncer).</a:t>
            </a:r>
            <a:endParaRPr sz="165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50"/>
              <a:buChar char="●"/>
            </a:pPr>
            <a:r>
              <a:rPr lang="es-CL" sz="1650" b="1">
                <a:solidFill>
                  <a:srgbClr val="555555"/>
                </a:solidFill>
                <a:highlight>
                  <a:srgbClr val="F4F7F9"/>
                </a:highlight>
              </a:rPr>
              <a:t>Trade-off:</a:t>
            </a:r>
            <a:r>
              <a:rPr lang="es-CL" sz="1650">
                <a:solidFill>
                  <a:srgbClr val="555555"/>
                </a:solidFill>
                <a:highlight>
                  <a:srgbClr val="F4F7F9"/>
                </a:highlight>
              </a:rPr>
              <a:t> Preferimos sacrificar precisión (falsos positivos) para maximizar el Recall.</a:t>
            </a:r>
            <a:endParaRPr sz="1650">
              <a:solidFill>
                <a:srgbClr val="555555"/>
              </a:solidFill>
              <a:highlight>
                <a:srgbClr val="F4F7F9"/>
              </a:highlight>
            </a:endParaRPr>
          </a:p>
        </p:txBody>
      </p:sp>
      <p:pic>
        <p:nvPicPr>
          <p:cNvPr id="133" name="Google Shape;1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1925" y="1050900"/>
            <a:ext cx="6788125" cy="496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3"/>
          <p:cNvSpPr txBox="1"/>
          <p:nvPr/>
        </p:nvSpPr>
        <p:spPr>
          <a:xfrm>
            <a:off x="757083" y="257395"/>
            <a:ext cx="104811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150" b="1">
                <a:solidFill>
                  <a:srgbClr val="1A3C5E"/>
                </a:solidFill>
              </a:rPr>
              <a:t>Implementación Técnica (Core)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39" name="Google Shape;139;p33"/>
          <p:cNvSpPr txBox="1"/>
          <p:nvPr/>
        </p:nvSpPr>
        <p:spPr>
          <a:xfrm>
            <a:off x="1017725" y="1571475"/>
            <a:ext cx="82293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>
                <a:solidFill>
                  <a:schemeClr val="dk1"/>
                </a:solidFill>
                <a:highlight>
                  <a:schemeClr val="lt1"/>
                </a:highlight>
              </a:rPr>
              <a:t>Este código automatiza la búsqueda del mejor modelo que equilibra la detección de cáncer (Recall alto) sin sacrificar demasiada precisión.</a:t>
            </a:r>
            <a:endParaRPr sz="21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40" name="Google Shape;14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725" y="2963275"/>
            <a:ext cx="9959800" cy="242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body" idx="4294967295"/>
          </p:nvPr>
        </p:nvSpPr>
        <p:spPr>
          <a:xfrm>
            <a:off x="654858" y="551150"/>
            <a:ext cx="87450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318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200"/>
              <a:buChar char="•"/>
            </a:pPr>
            <a:r>
              <a:rPr lang="es-CL" sz="3150" b="1">
                <a:solidFill>
                  <a:srgbClr val="1A3C5E"/>
                </a:solidFill>
              </a:rPr>
              <a:t>Optimización de Hiperparámetros</a:t>
            </a:r>
            <a:endParaRPr sz="3150" b="1">
              <a:solidFill>
                <a:srgbClr val="1A3C5E"/>
              </a:solidFill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endParaRPr sz="3200" b="1">
              <a:solidFill>
                <a:schemeClr val="dk1"/>
              </a:solidFill>
            </a:endParaRPr>
          </a:p>
        </p:txBody>
      </p:sp>
      <p:sp>
        <p:nvSpPr>
          <p:cNvPr id="146" name="Google Shape;146;p9"/>
          <p:cNvSpPr txBox="1">
            <a:spLocks noGrp="1"/>
          </p:cNvSpPr>
          <p:nvPr>
            <p:ph type="body" idx="4294967295"/>
          </p:nvPr>
        </p:nvSpPr>
        <p:spPr>
          <a:xfrm>
            <a:off x="519000" y="1438875"/>
            <a:ext cx="4769100" cy="1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1429"/>
              <a:buFont typeface="Arial"/>
              <a:buNone/>
            </a:pPr>
            <a:r>
              <a:rPr lang="es-CL" sz="3500" b="1">
                <a:solidFill>
                  <a:srgbClr val="2C5D8F"/>
                </a:solidFill>
                <a:highlight>
                  <a:srgbClr val="F4F7F9"/>
                </a:highlight>
              </a:rPr>
              <a:t>El Proceso de Tuning</a:t>
            </a:r>
            <a:endParaRPr sz="3500" b="1">
              <a:solidFill>
                <a:srgbClr val="2C5D8F"/>
              </a:solidFill>
              <a:highlight>
                <a:srgbClr val="F4F7F9"/>
              </a:highlight>
            </a:endParaRPr>
          </a:p>
          <a:p>
            <a:pPr marL="457200" lvl="0" indent="-284163" algn="l" rtl="0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Clr>
                <a:srgbClr val="555555"/>
              </a:buClr>
              <a:buSzPct val="100000"/>
              <a:buChar char="●"/>
            </a:pPr>
            <a:r>
              <a:rPr lang="es-CL" sz="3500" b="1">
                <a:solidFill>
                  <a:srgbClr val="555555"/>
                </a:solidFill>
                <a:highlight>
                  <a:srgbClr val="F4F7F9"/>
                </a:highlight>
              </a:rPr>
              <a:t>Grid Search:</a:t>
            </a:r>
            <a:r>
              <a:rPr lang="es-CL" sz="3500">
                <a:solidFill>
                  <a:srgbClr val="555555"/>
                </a:solidFill>
                <a:highlight>
                  <a:srgbClr val="F4F7F9"/>
                </a:highlight>
              </a:rPr>
              <a:t> Búsqueda exhaustiva en espacio de parámetros.</a:t>
            </a:r>
            <a:endParaRPr sz="350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lvl="0" indent="-284163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ct val="100000"/>
              <a:buChar char="●"/>
            </a:pPr>
            <a:r>
              <a:rPr lang="es-CL" sz="3500" b="1">
                <a:solidFill>
                  <a:srgbClr val="555555"/>
                </a:solidFill>
                <a:highlight>
                  <a:srgbClr val="F4F7F9"/>
                </a:highlight>
              </a:rPr>
              <a:t>Impacto:</a:t>
            </a:r>
            <a:r>
              <a:rPr lang="es-CL" sz="3500">
                <a:solidFill>
                  <a:srgbClr val="555555"/>
                </a:solidFill>
                <a:highlight>
                  <a:srgbClr val="F4F7F9"/>
                </a:highlight>
              </a:rPr>
              <a:t> Se corrigió el sesgo hacia la clase mayoritaria.</a:t>
            </a:r>
            <a:endParaRPr sz="350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lvl="0" indent="-284163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ct val="100000"/>
              <a:buChar char="●"/>
            </a:pPr>
            <a:r>
              <a:rPr lang="es-CL" sz="3500" b="1">
                <a:solidFill>
                  <a:srgbClr val="555555"/>
                </a:solidFill>
                <a:highlight>
                  <a:srgbClr val="F4F7F9"/>
                </a:highlight>
              </a:rPr>
              <a:t>Cambio:</a:t>
            </a:r>
            <a:r>
              <a:rPr lang="es-CL" sz="3500">
                <a:solidFill>
                  <a:srgbClr val="555555"/>
                </a:solidFill>
                <a:highlight>
                  <a:srgbClr val="F4F7F9"/>
                </a:highlight>
              </a:rPr>
              <a:t> Se limitó </a:t>
            </a:r>
            <a:r>
              <a:rPr lang="es-CL" sz="3500">
                <a:solidFill>
                  <a:srgbClr val="555555"/>
                </a:solidFill>
                <a:highlight>
                  <a:srgbClr val="F4F7F9"/>
                </a:highlight>
                <a:latin typeface="Roboto Mono"/>
                <a:ea typeface="Roboto Mono"/>
                <a:cs typeface="Roboto Mono"/>
                <a:sym typeface="Roboto Mono"/>
              </a:rPr>
              <a:t>max_depth</a:t>
            </a:r>
            <a:r>
              <a:rPr lang="es-CL" sz="3500">
                <a:solidFill>
                  <a:srgbClr val="555555"/>
                </a:solidFill>
                <a:highlight>
                  <a:srgbClr val="F4F7F9"/>
                </a:highlight>
              </a:rPr>
              <a:t> para evitar el sobreajuste a ruidos de los datos.</a:t>
            </a:r>
            <a:endParaRPr sz="350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SzPct val="129032"/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147" name="Google Shape;14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563" y="2806813"/>
            <a:ext cx="10582275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173" y="1230250"/>
            <a:ext cx="5814950" cy="14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body" idx="4294967295"/>
          </p:nvPr>
        </p:nvSpPr>
        <p:spPr>
          <a:xfrm>
            <a:off x="654863" y="551150"/>
            <a:ext cx="75321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318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3200"/>
              <a:buChar char="•"/>
            </a:pPr>
            <a:r>
              <a:rPr lang="es-CL" sz="3150" b="1">
                <a:solidFill>
                  <a:srgbClr val="1A3C5E"/>
                </a:solidFill>
              </a:rPr>
              <a:t>Impacto de la Optimización</a:t>
            </a:r>
            <a:endParaRPr sz="3200" b="1">
              <a:solidFill>
                <a:schemeClr val="dk1"/>
              </a:solidFill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478900" y="1130500"/>
            <a:ext cx="5766000" cy="21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457200" marR="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79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s-CL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CL" sz="900" b="1">
                <a:solidFill>
                  <a:srgbClr val="2C5D8F"/>
                </a:solidFill>
                <a:highlight>
                  <a:srgbClr val="F4F7F9"/>
                </a:highlight>
              </a:rPr>
              <a:t>Análisis de Mejoras</a:t>
            </a:r>
            <a:endParaRPr sz="900" b="1">
              <a:solidFill>
                <a:srgbClr val="2C5D8F"/>
              </a:solidFill>
              <a:highlight>
                <a:srgbClr val="F4F7F9"/>
              </a:highlight>
            </a:endParaRPr>
          </a:p>
          <a:p>
            <a:pPr marL="457200" lvl="0" indent="-307975" algn="l" rtl="0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Clr>
                <a:srgbClr val="555555"/>
              </a:buClr>
              <a:buSzPts val="1250"/>
              <a:buChar char="●"/>
            </a:pPr>
            <a:r>
              <a:rPr lang="es-CL" sz="1250">
                <a:solidFill>
                  <a:srgbClr val="555555"/>
                </a:solidFill>
                <a:highlight>
                  <a:srgbClr val="F4F7F9"/>
                </a:highlight>
              </a:rPr>
              <a:t>El modelo ahora identifica correctamente al 72% de los casos de riesgo.</a:t>
            </a:r>
            <a:endParaRPr sz="125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lvl="0" indent="-3079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50"/>
              <a:buChar char="●"/>
            </a:pPr>
            <a:r>
              <a:rPr lang="es-CL" sz="1250">
                <a:solidFill>
                  <a:srgbClr val="555555"/>
                </a:solidFill>
                <a:highlight>
                  <a:srgbClr val="F4F7F9"/>
                </a:highlight>
              </a:rPr>
              <a:t>Se redujo la varianza del error mediante validación cruzada.</a:t>
            </a:r>
            <a:endParaRPr sz="125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lvl="0" indent="-2952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Char char="●"/>
            </a:pPr>
            <a:r>
              <a:rPr lang="es-CL" sz="1050" b="1">
                <a:solidFill>
                  <a:srgbClr val="555555"/>
                </a:solidFill>
                <a:highlight>
                  <a:srgbClr val="F4F7F9"/>
                </a:highlight>
              </a:rPr>
              <a:t>Potencial:</a:t>
            </a:r>
            <a:r>
              <a:rPr lang="es-CL" sz="1050">
                <a:solidFill>
                  <a:srgbClr val="555555"/>
                </a:solidFill>
                <a:highlight>
                  <a:srgbClr val="F4F7F9"/>
                </a:highlight>
              </a:rPr>
              <a:t> Estabilidad lograda para despliegue en entornos reales.</a:t>
            </a:r>
            <a:endParaRPr sz="105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0" marR="0" lvl="0" indent="0" algn="l" rtl="0">
              <a:lnSpc>
                <a:spcPct val="79222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</p:txBody>
      </p:sp>
      <p:pic>
        <p:nvPicPr>
          <p:cNvPr id="155" name="Google Shape;15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150" y="3271900"/>
            <a:ext cx="11204150" cy="295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8000" y="1495000"/>
            <a:ext cx="520802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/>
        </p:nvSpPr>
        <p:spPr>
          <a:xfrm>
            <a:off x="3144476" y="973000"/>
            <a:ext cx="42981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150" b="1">
                <a:solidFill>
                  <a:srgbClr val="1A3C5E"/>
                </a:solidFill>
              </a:rPr>
              <a:t>Recomendaciones</a:t>
            </a:r>
            <a:endParaRPr/>
          </a:p>
        </p:txBody>
      </p:sp>
      <p:sp>
        <p:nvSpPr>
          <p:cNvPr id="162" name="Google Shape;162;p34"/>
          <p:cNvSpPr txBox="1"/>
          <p:nvPr/>
        </p:nvSpPr>
        <p:spPr>
          <a:xfrm>
            <a:off x="609599" y="1989221"/>
            <a:ext cx="10475495" cy="245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highlight>
                  <a:schemeClr val="lt1"/>
                </a:highlight>
              </a:rPr>
              <a:t>Recomendaciones para mejorar el modelo</a:t>
            </a:r>
            <a:endParaRPr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highlight>
                  <a:schemeClr val="lt1"/>
                </a:highlight>
              </a:rPr>
              <a:t>- Recolectar más datos de pacientes para reducir el sesgo y mejorar la generalización.</a:t>
            </a:r>
            <a:endParaRPr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highlight>
                  <a:schemeClr val="lt1"/>
                </a:highlight>
              </a:rPr>
              <a:t>- Incorporar variables adicionales, especialmente imágenes de dermatoscopia y antecedentes clínicos más detallados.</a:t>
            </a:r>
            <a:endParaRPr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highlight>
                  <a:schemeClr val="lt1"/>
                </a:highlight>
              </a:rPr>
              <a:t>- Ajustar el umbral de decisión para priorizar el </a:t>
            </a:r>
            <a:r>
              <a:rPr lang="es-CL" dirty="0" err="1">
                <a:solidFill>
                  <a:schemeClr val="dk1"/>
                </a:solidFill>
                <a:highlight>
                  <a:schemeClr val="lt1"/>
                </a:highlight>
              </a:rPr>
              <a:t>recall</a:t>
            </a:r>
            <a:r>
              <a:rPr lang="es-CL" dirty="0">
                <a:solidFill>
                  <a:schemeClr val="dk1"/>
                </a:solidFill>
                <a:highlight>
                  <a:schemeClr val="lt1"/>
                </a:highlight>
              </a:rPr>
              <a:t> en la clase de riesgo.</a:t>
            </a:r>
            <a:endParaRPr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highlight>
                  <a:schemeClr val="lt1"/>
                </a:highlight>
              </a:rPr>
              <a:t>- Probar otros modelos ensemble o </a:t>
            </a:r>
            <a:r>
              <a:rPr lang="es-CL" dirty="0" err="1">
                <a:solidFill>
                  <a:schemeClr val="dk1"/>
                </a:solidFill>
                <a:highlight>
                  <a:schemeClr val="lt1"/>
                </a:highlight>
              </a:rPr>
              <a:t>boosting</a:t>
            </a:r>
            <a:r>
              <a:rPr lang="es-CL" dirty="0">
                <a:solidFill>
                  <a:schemeClr val="dk1"/>
                </a:solidFill>
                <a:highlight>
                  <a:schemeClr val="lt1"/>
                </a:highlight>
              </a:rPr>
              <a:t>, como </a:t>
            </a:r>
            <a:r>
              <a:rPr lang="es-CL" dirty="0" err="1">
                <a:solidFill>
                  <a:schemeClr val="dk1"/>
                </a:solidFill>
                <a:highlight>
                  <a:schemeClr val="lt1"/>
                </a:highlight>
              </a:rPr>
              <a:t>XGBoost</a:t>
            </a:r>
            <a:r>
              <a:rPr lang="es-CL" dirty="0">
                <a:solidFill>
                  <a:schemeClr val="dk1"/>
                </a:solidFill>
                <a:highlight>
                  <a:schemeClr val="lt1"/>
                </a:highlight>
              </a:rPr>
              <a:t> o </a:t>
            </a:r>
            <a:r>
              <a:rPr lang="es-CL" dirty="0" err="1">
                <a:solidFill>
                  <a:schemeClr val="dk1"/>
                </a:solidFill>
                <a:highlight>
                  <a:schemeClr val="lt1"/>
                </a:highlight>
              </a:rPr>
              <a:t>LightGBM</a:t>
            </a:r>
            <a:r>
              <a:rPr lang="es-CL" dirty="0">
                <a:solidFill>
                  <a:schemeClr val="dk1"/>
                </a:solidFill>
                <a:highlight>
                  <a:schemeClr val="lt1"/>
                </a:highlight>
              </a:rPr>
              <a:t>, y comparar contra Random Forest.</a:t>
            </a:r>
            <a:endParaRPr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highlight>
                  <a:schemeClr val="lt1"/>
                </a:highlight>
              </a:rPr>
              <a:t>- Mantener validación cruzada y calibración de probabilidades para un uso más confiable en entorno clínico.</a:t>
            </a:r>
            <a:endParaRPr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1412ff6db_0_39"/>
          <p:cNvSpPr txBox="1"/>
          <p:nvPr/>
        </p:nvSpPr>
        <p:spPr>
          <a:xfrm>
            <a:off x="3264975" y="495950"/>
            <a:ext cx="51696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s-CL" sz="3150" b="1">
                <a:solidFill>
                  <a:srgbClr val="1A3C5E"/>
                </a:solidFill>
              </a:rPr>
              <a:t>Lecciones Aprendidas</a:t>
            </a:r>
            <a:endParaRPr sz="3150" b="1">
              <a:solidFill>
                <a:srgbClr val="1A3C5E"/>
              </a:solidFill>
            </a:endParaRPr>
          </a:p>
        </p:txBody>
      </p:sp>
      <p:sp>
        <p:nvSpPr>
          <p:cNvPr id="169" name="Google Shape;169;g3e1412ff6db_0_39"/>
          <p:cNvSpPr txBox="1"/>
          <p:nvPr/>
        </p:nvSpPr>
        <p:spPr>
          <a:xfrm>
            <a:off x="371950" y="2149100"/>
            <a:ext cx="10749000" cy="16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3375" algn="l" rtl="0">
              <a:lnSpc>
                <a:spcPct val="160000"/>
              </a:lnSpc>
              <a:spcBef>
                <a:spcPts val="1700"/>
              </a:spcBef>
              <a:spcAft>
                <a:spcPts val="0"/>
              </a:spcAft>
              <a:buClr>
                <a:srgbClr val="555555"/>
              </a:buClr>
              <a:buSzPts val="1650"/>
              <a:buChar char="●"/>
            </a:pPr>
            <a:r>
              <a:rPr lang="es-CL" sz="1650" b="1">
                <a:solidFill>
                  <a:srgbClr val="555555"/>
                </a:solidFill>
                <a:highlight>
                  <a:srgbClr val="F4F7F9"/>
                </a:highlight>
              </a:rPr>
              <a:t>Importancia del Preprocesamiento:</a:t>
            </a:r>
            <a:r>
              <a:rPr lang="es-CL" sz="1650">
                <a:solidFill>
                  <a:srgbClr val="555555"/>
                </a:solidFill>
                <a:highlight>
                  <a:srgbClr val="F4F7F9"/>
                </a:highlight>
              </a:rPr>
              <a:t> Los datos médicos son ruidosos; el escalamiento es crítico.</a:t>
            </a:r>
            <a:endParaRPr sz="165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50"/>
              <a:buChar char="●"/>
            </a:pPr>
            <a:r>
              <a:rPr lang="es-CL" sz="1650" b="1">
                <a:solidFill>
                  <a:srgbClr val="555555"/>
                </a:solidFill>
                <a:highlight>
                  <a:srgbClr val="F4F7F9"/>
                </a:highlight>
              </a:rPr>
              <a:t>El Peligro del Accuracy:</a:t>
            </a:r>
            <a:r>
              <a:rPr lang="es-CL" sz="1650">
                <a:solidFill>
                  <a:srgbClr val="555555"/>
                </a:solidFill>
                <a:highlight>
                  <a:srgbClr val="F4F7F9"/>
                </a:highlight>
              </a:rPr>
              <a:t> Un modelo puede ser "preciso" pero inútil si no detecta la enfermedad.</a:t>
            </a:r>
            <a:endParaRPr sz="165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50"/>
              <a:buChar char="●"/>
            </a:pPr>
            <a:r>
              <a:rPr lang="es-CL" sz="1650" b="1">
                <a:solidFill>
                  <a:srgbClr val="555555"/>
                </a:solidFill>
                <a:highlight>
                  <a:srgbClr val="F4F7F9"/>
                </a:highlight>
              </a:rPr>
              <a:t>Interpretación &gt; Predicción:</a:t>
            </a:r>
            <a:r>
              <a:rPr lang="es-CL" sz="1650">
                <a:solidFill>
                  <a:srgbClr val="555555"/>
                </a:solidFill>
                <a:highlight>
                  <a:srgbClr val="F4F7F9"/>
                </a:highlight>
              </a:rPr>
              <a:t> En salud, entender el "por qué" (Importancia de variables) genera confianza.</a:t>
            </a:r>
            <a:endParaRPr sz="1650">
              <a:solidFill>
                <a:srgbClr val="555555"/>
              </a:solidFill>
              <a:highlight>
                <a:srgbClr val="F4F7F9"/>
              </a:highlight>
            </a:endParaRPr>
          </a:p>
          <a:p>
            <a:pPr marL="457200" lvl="0" indent="-33337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50"/>
              <a:buChar char="●"/>
            </a:pPr>
            <a:r>
              <a:rPr lang="es-CL" sz="1650" b="1">
                <a:solidFill>
                  <a:srgbClr val="555555"/>
                </a:solidFill>
                <a:highlight>
                  <a:srgbClr val="F4F7F9"/>
                </a:highlight>
              </a:rPr>
              <a:t>Iteración:</a:t>
            </a:r>
            <a:r>
              <a:rPr lang="es-CL" sz="1650">
                <a:solidFill>
                  <a:srgbClr val="555555"/>
                </a:solidFill>
                <a:highlight>
                  <a:srgbClr val="F4F7F9"/>
                </a:highlight>
              </a:rPr>
              <a:t> El modelado es un ciclo constante de prueba y error.</a:t>
            </a:r>
            <a:endParaRPr sz="1650">
              <a:solidFill>
                <a:srgbClr val="555555"/>
              </a:solidFill>
              <a:highlight>
                <a:srgbClr val="F4F7F9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>
            <a:spLocks noGrp="1"/>
          </p:cNvSpPr>
          <p:nvPr>
            <p:ph type="title" idx="4294967295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CL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Anexos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>
            <a:spLocks noGrp="1"/>
          </p:cNvSpPr>
          <p:nvPr>
            <p:ph type="body" idx="4294967295"/>
          </p:nvPr>
        </p:nvSpPr>
        <p:spPr>
          <a:xfrm>
            <a:off x="654840" y="55116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CL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Anexos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>
            <a:spLocks noGrp="1"/>
          </p:cNvSpPr>
          <p:nvPr>
            <p:ph type="body" idx="4294967295"/>
          </p:nvPr>
        </p:nvSpPr>
        <p:spPr>
          <a:xfrm>
            <a:off x="640800" y="1137600"/>
            <a:ext cx="493056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90000"/>
              </a:lnSpc>
            </a:pPr>
            <a:r>
              <a:rPr lang="es-CL" sz="1400" u="sng" dirty="0">
                <a:solidFill>
                  <a:schemeClr val="dk1"/>
                </a:solidFill>
                <a:hlinkClick r:id="rId3"/>
              </a:rPr>
              <a:t>https://drive.google.com/file/d/1htx9o8NxJdPyUWSJ1O73EhIPyVgo0Vq-/view?usp=drive_link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654850" y="1807200"/>
            <a:ext cx="5610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CL" dirty="0">
                <a:hlinkClick r:id="rId4"/>
              </a:rPr>
              <a:t>https://github.com/GabTo0011/entrega_2-prog_para_ciencia_datos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533</Words>
  <Application>Microsoft Office PowerPoint</Application>
  <PresentationFormat>Panorámica</PresentationFormat>
  <Paragraphs>62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7</vt:i4>
      </vt:variant>
      <vt:variant>
        <vt:lpstr>Títulos de diapositiva</vt:lpstr>
      </vt:variant>
      <vt:variant>
        <vt:i4>18</vt:i4>
      </vt:variant>
    </vt:vector>
  </HeadingPairs>
  <TitlesOfParts>
    <vt:vector size="31" baseType="lpstr">
      <vt:lpstr>Calibri</vt:lpstr>
      <vt:lpstr>Noto Sans Symbols</vt:lpstr>
      <vt:lpstr>Arial</vt:lpstr>
      <vt:lpstr>Courier New</vt:lpstr>
      <vt:lpstr>Roboto Mono</vt:lpstr>
      <vt:lpstr>Times New Roman</vt:lpstr>
      <vt:lpstr>Tema de Office</vt:lpstr>
      <vt:lpstr>Tema de Office</vt:lpstr>
      <vt:lpstr>Tema de Office</vt:lpstr>
      <vt:lpstr>Tema de Office</vt:lpstr>
      <vt:lpstr>Tema de Office</vt:lpstr>
      <vt:lpstr>Tema de Office</vt:lpstr>
      <vt:lpstr>Tema de Office</vt:lpstr>
      <vt:lpstr>Desarrollo de Modelos de Triaje para Cáncer de Piel en Chile </vt:lpstr>
      <vt:lpstr>Objetivo </vt:lpstr>
      <vt:lpstr>Presentación de PowerPoint</vt:lpstr>
      <vt:lpstr>Diagnóstico del problema</vt:lpstr>
      <vt:lpstr>Presentación de PowerPoint</vt:lpstr>
      <vt:lpstr>Presentación de PowerPoint</vt:lpstr>
      <vt:lpstr>Presentación de PowerPoint</vt:lpstr>
      <vt:lpstr>Análisis Final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Anexos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Daniela Osorio C.</dc:creator>
  <cp:lastModifiedBy>GABRIEL ADRIAN TOLEDO OLGUIN</cp:lastModifiedBy>
  <cp:revision>3</cp:revision>
  <dcterms:created xsi:type="dcterms:W3CDTF">2024-03-07T18:55:37Z</dcterms:created>
  <dcterms:modified xsi:type="dcterms:W3CDTF">2026-05-12T20:17:56Z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0x010100B7B2C2C7448D3B49B948ADF2E0C59D3B</vt:lpwstr>
  </property>
  <property fmtid="{D5CDD505-2E9C-101B-9397-08002B2CF9AE}" pid="4" name="Notes">
    <vt:i4>1</vt:i4>
  </property>
  <property fmtid="{D5CDD505-2E9C-101B-9397-08002B2CF9AE}" pid="5" name="Order">
    <vt:r8>170200</vt:r8>
  </property>
  <property fmtid="{D5CDD505-2E9C-101B-9397-08002B2CF9AE}" pid="6" name="PresentationFormat">
    <vt:lpwstr>Panorámica</vt:lpwstr>
  </property>
  <property fmtid="{D5CDD505-2E9C-101B-9397-08002B2CF9AE}" pid="7" name="Slides">
    <vt:i4>13</vt:i4>
  </property>
  <property fmtid="{D5CDD505-2E9C-101B-9397-08002B2CF9AE}" pid="8" name="TemplateUrl">
    <vt:lpwstr/>
  </property>
  <property fmtid="{D5CDD505-2E9C-101B-9397-08002B2CF9AE}" pid="9" name="TriggerFlowInfo">
    <vt:lpwstr/>
  </property>
  <property fmtid="{D5CDD505-2E9C-101B-9397-08002B2CF9AE}" pid="10" name="_ExtendedDescription">
    <vt:lpwstr/>
  </property>
  <property fmtid="{D5CDD505-2E9C-101B-9397-08002B2CF9AE}" pid="11" name="_SharedFileIndex">
    <vt:lpwstr/>
  </property>
  <property fmtid="{D5CDD505-2E9C-101B-9397-08002B2CF9AE}" pid="12" name="_SourceUrl">
    <vt:lpwstr/>
  </property>
  <property fmtid="{D5CDD505-2E9C-101B-9397-08002B2CF9AE}" pid="13" name="xd_ProgID">
    <vt:lpwstr/>
  </property>
  <property fmtid="{D5CDD505-2E9C-101B-9397-08002B2CF9AE}" pid="14" name="xd_Signature">
    <vt:bool>false</vt:bool>
  </property>
</Properties>
</file>